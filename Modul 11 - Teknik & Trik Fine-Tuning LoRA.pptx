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lacial Indifference Bold" charset="1" panose="00000800000000000000"/>
      <p:regular r:id="rId18"/>
    </p:embeddedFont>
    <p:embeddedFont>
      <p:font typeface="Glacial Indifference" charset="1" panose="00000000000000000000"/>
      <p:regular r:id="rId19"/>
    </p:embeddedFont>
    <p:embeddedFont>
      <p:font typeface="Courier New Bold" charset="1" panose="02070609020205020404"/>
      <p:regular r:id="rId20"/>
    </p:embeddedFont>
    <p:embeddedFont>
      <p:font typeface="Proxima Nova" charset="1" panose="0200050603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rantai.dev" TargetMode="External" Type="http://schemas.openxmlformats.org/officeDocument/2006/relationships/hyperlink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26.png" Type="http://schemas.openxmlformats.org/officeDocument/2006/relationships/image"/><Relationship Id="rId18" Target="../media/image27.svg" Type="http://schemas.openxmlformats.org/officeDocument/2006/relationships/image"/><Relationship Id="rId19" Target="../media/image28.png" Type="http://schemas.openxmlformats.org/officeDocument/2006/relationships/image"/><Relationship Id="rId2" Target="../media/image11.png" Type="http://schemas.openxmlformats.org/officeDocument/2006/relationships/image"/><Relationship Id="rId20" Target="../media/image29.svg" Type="http://schemas.openxmlformats.org/officeDocument/2006/relationships/image"/><Relationship Id="rId21" Target="../media/image30.png" Type="http://schemas.openxmlformats.org/officeDocument/2006/relationships/image"/><Relationship Id="rId22" Target="../media/image31.svg" Type="http://schemas.openxmlformats.org/officeDocument/2006/relationships/image"/><Relationship Id="rId23" Target="../media/image32.png" Type="http://schemas.openxmlformats.org/officeDocument/2006/relationships/image"/><Relationship Id="rId24" Target="../media/image33.sv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7.png" Type="http://schemas.openxmlformats.org/officeDocument/2006/relationships/image"/><Relationship Id="rId5" Target="../media/image38.pn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0.png" Type="http://schemas.openxmlformats.org/officeDocument/2006/relationships/image"/><Relationship Id="rId5" Target="../media/image41.pn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39.pn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1.png" Type="http://schemas.openxmlformats.org/officeDocument/2006/relationships/image"/><Relationship Id="rId7" Target="../media/image47.png" Type="http://schemas.openxmlformats.org/officeDocument/2006/relationships/image"/><Relationship Id="rId8" Target="../media/image48.pn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50.png" Type="http://schemas.openxmlformats.org/officeDocument/2006/relationships/image"/><Relationship Id="rId5" Target="../media/image51.png" Type="http://schemas.openxmlformats.org/officeDocument/2006/relationships/image"/><Relationship Id="rId6" Target="../media/image46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media/image65.svg" Type="http://schemas.openxmlformats.org/officeDocument/2006/relationships/image"/><Relationship Id="rId15" Target="../media/image66.png" Type="http://schemas.openxmlformats.org/officeDocument/2006/relationships/image"/><Relationship Id="rId16" Target="../media/image67.svg" Type="http://schemas.openxmlformats.org/officeDocument/2006/relationships/image"/><Relationship Id="rId17" Target="../media/image68.png" Type="http://schemas.openxmlformats.org/officeDocument/2006/relationships/image"/><Relationship Id="rId18" Target="../media/image69.svg" Type="http://schemas.openxmlformats.org/officeDocument/2006/relationships/image"/><Relationship Id="rId19" Target="../media/image70.png" Type="http://schemas.openxmlformats.org/officeDocument/2006/relationships/image"/><Relationship Id="rId2" Target="../media/image11.png" Type="http://schemas.openxmlformats.org/officeDocument/2006/relationships/image"/><Relationship Id="rId20" Target="../media/image71.svg" Type="http://schemas.openxmlformats.org/officeDocument/2006/relationships/image"/><Relationship Id="rId21" Target="../media/image72.svg" Type="http://schemas.openxmlformats.org/officeDocument/2006/relationships/image"/><Relationship Id="rId22" Target="../media/image73.png" Type="http://schemas.openxmlformats.org/officeDocument/2006/relationships/image"/><Relationship Id="rId23" Target="../media/image74.svg" Type="http://schemas.openxmlformats.org/officeDocument/2006/relationships/image"/><Relationship Id="rId24" Target="../media/image75.svg" Type="http://schemas.openxmlformats.org/officeDocument/2006/relationships/image"/><Relationship Id="rId25" Target="../media/image76.png" Type="http://schemas.openxmlformats.org/officeDocument/2006/relationships/image"/><Relationship Id="rId26" Target="../media/image77.svg" Type="http://schemas.openxmlformats.org/officeDocument/2006/relationships/image"/><Relationship Id="rId27" Target="../media/image78.png" Type="http://schemas.openxmlformats.org/officeDocument/2006/relationships/image"/><Relationship Id="rId28" Target="../media/image79.svg" Type="http://schemas.openxmlformats.org/officeDocument/2006/relationships/image"/><Relationship Id="rId29" Target="../media/image80.png" Type="http://schemas.openxmlformats.org/officeDocument/2006/relationships/image"/><Relationship Id="rId3" Target="../media/image12.svg" Type="http://schemas.openxmlformats.org/officeDocument/2006/relationships/image"/><Relationship Id="rId30" Target="../media/image81.svg" Type="http://schemas.openxmlformats.org/officeDocument/2006/relationships/image"/><Relationship Id="rId31" Target="../media/image82.png" Type="http://schemas.openxmlformats.org/officeDocument/2006/relationships/image"/><Relationship Id="rId32" Target="../media/image83.svg" Type="http://schemas.openxmlformats.org/officeDocument/2006/relationships/image"/><Relationship Id="rId33" Target="../media/image84.png" Type="http://schemas.openxmlformats.org/officeDocument/2006/relationships/image"/><Relationship Id="rId34" Target="../media/image85.svg" Type="http://schemas.openxmlformats.org/officeDocument/2006/relationships/image"/><Relationship Id="rId35" Target="../media/image86.png" Type="http://schemas.openxmlformats.org/officeDocument/2006/relationships/image"/><Relationship Id="rId36" Target="../media/image87.svg" Type="http://schemas.openxmlformats.org/officeDocument/2006/relationships/image"/><Relationship Id="rId37" Target="../media/image88.png" Type="http://schemas.openxmlformats.org/officeDocument/2006/relationships/image"/><Relationship Id="rId38" Target="../media/image89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https://rantai.dev" TargetMode="External" Type="http://schemas.openxmlformats.org/officeDocument/2006/relationships/hyperlink"/><Relationship Id="rId13" Target="mailto:contacts@rantai.dev" TargetMode="External" Type="http://schemas.openxmlformats.org/officeDocument/2006/relationships/hyperlink"/><Relationship Id="rId14" Target="../media/image8.png" Type="http://schemas.openxmlformats.org/officeDocument/2006/relationships/image"/><Relationship Id="rId15" Target="../media/image7.pn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90.png" Type="http://schemas.openxmlformats.org/officeDocument/2006/relationships/image"/><Relationship Id="rId5" Target="../media/image91.svg" Type="http://schemas.openxmlformats.org/officeDocument/2006/relationships/image"/><Relationship Id="rId6" Target="../media/image92.png" Type="http://schemas.openxmlformats.org/officeDocument/2006/relationships/image"/><Relationship Id="rId7" Target="../media/image93.svg" Type="http://schemas.openxmlformats.org/officeDocument/2006/relationships/image"/><Relationship Id="rId8" Target="../media/image94.png" Type="http://schemas.openxmlformats.org/officeDocument/2006/relationships/image"/><Relationship Id="rId9" Target="../media/image9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782305" y="434253"/>
            <a:ext cx="2074516" cy="20745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CB6F9">
                <a:alpha val="71765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609927" y="1471511"/>
            <a:ext cx="5298747" cy="649096"/>
          </a:xfrm>
          <a:custGeom>
            <a:avLst/>
            <a:gdLst/>
            <a:ahLst/>
            <a:cxnLst/>
            <a:rect r="r" b="b" t="t" l="l"/>
            <a:pathLst>
              <a:path h="649096" w="5298747">
                <a:moveTo>
                  <a:pt x="0" y="0"/>
                </a:moveTo>
                <a:lnTo>
                  <a:pt x="5298746" y="0"/>
                </a:lnTo>
                <a:lnTo>
                  <a:pt x="5298746" y="649097"/>
                </a:lnTo>
                <a:lnTo>
                  <a:pt x="0" y="64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207447" y="1288822"/>
            <a:ext cx="5298747" cy="649096"/>
          </a:xfrm>
          <a:custGeom>
            <a:avLst/>
            <a:gdLst/>
            <a:ahLst/>
            <a:cxnLst/>
            <a:rect r="r" b="b" t="t" l="l"/>
            <a:pathLst>
              <a:path h="649096" w="5298747">
                <a:moveTo>
                  <a:pt x="5298747" y="0"/>
                </a:moveTo>
                <a:lnTo>
                  <a:pt x="0" y="0"/>
                </a:lnTo>
                <a:lnTo>
                  <a:pt x="0" y="649096"/>
                </a:lnTo>
                <a:lnTo>
                  <a:pt x="5298747" y="649096"/>
                </a:lnTo>
                <a:lnTo>
                  <a:pt x="52987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2716607" y="766392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2" y="708131"/>
                </a:moveTo>
                <a:lnTo>
                  <a:pt x="0" y="708131"/>
                </a:lnTo>
                <a:lnTo>
                  <a:pt x="0" y="0"/>
                </a:lnTo>
                <a:lnTo>
                  <a:pt x="5780662" y="0"/>
                </a:lnTo>
                <a:lnTo>
                  <a:pt x="5780662" y="70813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149356" y="6466459"/>
            <a:ext cx="2074516" cy="20745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909189"/>
            <a:ext cx="9239794" cy="190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6"/>
              </a:lnSpc>
            </a:pPr>
            <a:r>
              <a:rPr lang="en-US" sz="7200" b="true">
                <a:solidFill>
                  <a:srgbClr val="004A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Teknik &amp; Trik </a:t>
            </a:r>
          </a:p>
          <a:p>
            <a:pPr algn="l">
              <a:lnSpc>
                <a:spcPts val="7416"/>
              </a:lnSpc>
            </a:pPr>
            <a:r>
              <a:rPr lang="en-US" sz="7200" b="true">
                <a:solidFill>
                  <a:srgbClr val="004A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Fine-Tuning LoRA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4979162"/>
            <a:ext cx="7120656" cy="1487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3200" b="true">
                <a:solidFill>
                  <a:srgbClr val="5CB6F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Prak</a:t>
            </a:r>
            <a:r>
              <a:rPr lang="en-US" sz="3200" b="true">
                <a:solidFill>
                  <a:srgbClr val="5CB6F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tik memilih konfigurasi, menjalankan eksperimen, dan mengevaluasi hasil fine-tuning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112098" y="7503717"/>
            <a:ext cx="2074516" cy="20745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AE8FF">
                <a:alpha val="49804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7574498" y="8216426"/>
            <a:ext cx="5298747" cy="649096"/>
          </a:xfrm>
          <a:custGeom>
            <a:avLst/>
            <a:gdLst/>
            <a:ahLst/>
            <a:cxnLst/>
            <a:rect r="r" b="b" t="t" l="l"/>
            <a:pathLst>
              <a:path h="649096" w="5298747">
                <a:moveTo>
                  <a:pt x="0" y="0"/>
                </a:moveTo>
                <a:lnTo>
                  <a:pt x="5298747" y="0"/>
                </a:lnTo>
                <a:lnTo>
                  <a:pt x="5298747" y="649097"/>
                </a:lnTo>
                <a:lnTo>
                  <a:pt x="0" y="649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false" rot="0">
            <a:off x="6349760" y="1089406"/>
            <a:ext cx="14406302" cy="8229600"/>
          </a:xfrm>
          <a:custGeom>
            <a:avLst/>
            <a:gdLst/>
            <a:ahLst/>
            <a:cxnLst/>
            <a:rect r="r" b="b" t="t" l="l"/>
            <a:pathLst>
              <a:path h="8229600" w="14406302">
                <a:moveTo>
                  <a:pt x="14406302" y="0"/>
                </a:moveTo>
                <a:lnTo>
                  <a:pt x="0" y="0"/>
                </a:lnTo>
                <a:lnTo>
                  <a:pt x="0" y="8229600"/>
                </a:lnTo>
                <a:lnTo>
                  <a:pt x="14406302" y="8229600"/>
                </a:lnTo>
                <a:lnTo>
                  <a:pt x="14406302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4350787" y="2855973"/>
            <a:ext cx="2822788" cy="860614"/>
            <a:chOff x="0" y="0"/>
            <a:chExt cx="1105975" cy="33719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5975" cy="337191"/>
            </a:xfrm>
            <a:custGeom>
              <a:avLst/>
              <a:gdLst/>
              <a:ahLst/>
              <a:cxnLst/>
              <a:rect r="r" b="b" t="t" l="l"/>
              <a:pathLst>
                <a:path h="337191" w="1105975">
                  <a:moveTo>
                    <a:pt x="0" y="0"/>
                  </a:moveTo>
                  <a:lnTo>
                    <a:pt x="1105975" y="0"/>
                  </a:lnTo>
                  <a:lnTo>
                    <a:pt x="1105975" y="337191"/>
                  </a:lnTo>
                  <a:lnTo>
                    <a:pt x="0" y="337191"/>
                  </a:lnTo>
                  <a:close/>
                </a:path>
              </a:pathLst>
            </a:custGeom>
            <a:solidFill>
              <a:srgbClr val="CAE8FF">
                <a:alpha val="49804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105975" cy="356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73725" y="6660521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839789"/>
            <a:ext cx="1044792" cy="1044792"/>
          </a:xfrm>
          <a:custGeom>
            <a:avLst/>
            <a:gdLst/>
            <a:ahLst/>
            <a:cxnLst/>
            <a:rect r="r" b="b" t="t" l="l"/>
            <a:pathLst>
              <a:path h="1044792" w="1044792">
                <a:moveTo>
                  <a:pt x="0" y="0"/>
                </a:moveTo>
                <a:lnTo>
                  <a:pt x="1044792" y="0"/>
                </a:lnTo>
                <a:lnTo>
                  <a:pt x="1044792" y="1044793"/>
                </a:lnTo>
                <a:lnTo>
                  <a:pt x="0" y="10447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2320652" y="3033169"/>
            <a:ext cx="4578548" cy="49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04"/>
              </a:lnSpc>
            </a:pPr>
            <a:r>
              <a:rPr lang="en-US" b="true" sz="3200" spc="364">
                <a:solidFill>
                  <a:srgbClr val="6684C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27 August, 2026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38924" y="7005062"/>
            <a:ext cx="5607248" cy="32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100">
                <a:solidFill>
                  <a:srgbClr val="004AA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Presentation by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8924" y="7340461"/>
            <a:ext cx="5607248" cy="49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3200" b="true">
                <a:solidFill>
                  <a:srgbClr val="004AA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RantAI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64779" y="8648594"/>
            <a:ext cx="5607248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</a:pPr>
            <a:r>
              <a:rPr lang="en-US" sz="2399">
                <a:solidFill>
                  <a:srgbClr val="004AAD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10" tooltip="https://www.rantai.dev"/>
              </a:rPr>
              <a:t>https://www.rantai.dev/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28700" y="2157730"/>
            <a:ext cx="4208771" cy="457414"/>
            <a:chOff x="0" y="0"/>
            <a:chExt cx="5842780" cy="635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42831" cy="635000"/>
            </a:xfrm>
            <a:custGeom>
              <a:avLst/>
              <a:gdLst/>
              <a:ahLst/>
              <a:cxnLst/>
              <a:rect r="r" b="b" t="t" l="l"/>
              <a:pathLst>
                <a:path h="635000" w="5842831">
                  <a:moveTo>
                    <a:pt x="0" y="317500"/>
                  </a:moveTo>
                  <a:cubicBezTo>
                    <a:pt x="0" y="142113"/>
                    <a:pt x="112406" y="0"/>
                    <a:pt x="251131" y="0"/>
                  </a:cubicBezTo>
                  <a:lnTo>
                    <a:pt x="5591689" y="0"/>
                  </a:lnTo>
                  <a:cubicBezTo>
                    <a:pt x="5730414" y="0"/>
                    <a:pt x="5842831" y="142113"/>
                    <a:pt x="5842831" y="317500"/>
                  </a:cubicBezTo>
                  <a:cubicBezTo>
                    <a:pt x="5842831" y="492887"/>
                    <a:pt x="5730414" y="635000"/>
                    <a:pt x="5591689" y="635000"/>
                  </a:cubicBezTo>
                  <a:lnTo>
                    <a:pt x="251131" y="635000"/>
                  </a:lnTo>
                  <a:cubicBezTo>
                    <a:pt x="112406" y="635000"/>
                    <a:pt x="0" y="492887"/>
                    <a:pt x="0" y="317500"/>
                  </a:cubicBezTo>
                  <a:close/>
                </a:path>
              </a:pathLst>
            </a:custGeom>
            <a:solidFill>
              <a:srgbClr val="16224A"/>
            </a:solidFill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1325872" y="2267268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737965" y="2267268"/>
            <a:ext cx="291963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b="true" sz="1725" spc="242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PRAKTIKUM HANDS-ON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281698" y="1160446"/>
            <a:ext cx="796755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Badan Siber dan Sandi Negara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Alur Praktik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-3705068" y="884155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2075595" y="9043115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289602" y="59031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6013812" y="85865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2"/>
                </a:moveTo>
                <a:lnTo>
                  <a:pt x="5780662" y="708132"/>
                </a:lnTo>
                <a:lnTo>
                  <a:pt x="5780662" y="0"/>
                </a:lnTo>
                <a:lnTo>
                  <a:pt x="0" y="0"/>
                </a:lnTo>
                <a:lnTo>
                  <a:pt x="0" y="70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Ikuti enam langk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ah untuk menjalankan dan mengevaluasi satu eksperimen fine-tuning LoRA.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339869" y="8087918"/>
            <a:ext cx="11608263" cy="955197"/>
            <a:chOff x="0" y="0"/>
            <a:chExt cx="5931310" cy="4880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931310" cy="488063"/>
            </a:xfrm>
            <a:custGeom>
              <a:avLst/>
              <a:gdLst/>
              <a:ahLst/>
              <a:cxnLst/>
              <a:rect r="r" b="b" t="t" l="l"/>
              <a:pathLst>
                <a:path h="488063" w="5931310">
                  <a:moveTo>
                    <a:pt x="12005" y="0"/>
                  </a:moveTo>
                  <a:lnTo>
                    <a:pt x="5919306" y="0"/>
                  </a:lnTo>
                  <a:cubicBezTo>
                    <a:pt x="5922490" y="0"/>
                    <a:pt x="5925543" y="1265"/>
                    <a:pt x="5927794" y="3516"/>
                  </a:cubicBezTo>
                  <a:cubicBezTo>
                    <a:pt x="5930046" y="5767"/>
                    <a:pt x="5931310" y="8821"/>
                    <a:pt x="5931310" y="12005"/>
                  </a:cubicBezTo>
                  <a:lnTo>
                    <a:pt x="5931310" y="476059"/>
                  </a:lnTo>
                  <a:cubicBezTo>
                    <a:pt x="5931310" y="479243"/>
                    <a:pt x="5930046" y="482296"/>
                    <a:pt x="5927794" y="484547"/>
                  </a:cubicBezTo>
                  <a:cubicBezTo>
                    <a:pt x="5925543" y="486799"/>
                    <a:pt x="5922490" y="488063"/>
                    <a:pt x="5919306" y="488063"/>
                  </a:cubicBezTo>
                  <a:lnTo>
                    <a:pt x="12005" y="488063"/>
                  </a:lnTo>
                  <a:cubicBezTo>
                    <a:pt x="8821" y="488063"/>
                    <a:pt x="5767" y="486799"/>
                    <a:pt x="3516" y="484547"/>
                  </a:cubicBezTo>
                  <a:cubicBezTo>
                    <a:pt x="1265" y="482296"/>
                    <a:pt x="0" y="479243"/>
                    <a:pt x="0" y="476059"/>
                  </a:cubicBezTo>
                  <a:lnTo>
                    <a:pt x="0" y="12005"/>
                  </a:lnTo>
                  <a:cubicBezTo>
                    <a:pt x="0" y="8821"/>
                    <a:pt x="1265" y="5767"/>
                    <a:pt x="3516" y="3516"/>
                  </a:cubicBezTo>
                  <a:cubicBezTo>
                    <a:pt x="5767" y="1265"/>
                    <a:pt x="8821" y="0"/>
                    <a:pt x="12005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931310" cy="507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37359" y="8234907"/>
            <a:ext cx="605016" cy="661219"/>
          </a:xfrm>
          <a:custGeom>
            <a:avLst/>
            <a:gdLst/>
            <a:ahLst/>
            <a:cxnLst/>
            <a:rect r="r" b="b" t="t" l="l"/>
            <a:pathLst>
              <a:path h="661219" w="605016">
                <a:moveTo>
                  <a:pt x="0" y="0"/>
                </a:moveTo>
                <a:lnTo>
                  <a:pt x="605016" y="0"/>
                </a:lnTo>
                <a:lnTo>
                  <a:pt x="605016" y="661220"/>
                </a:lnTo>
                <a:lnTo>
                  <a:pt x="0" y="6612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66268" y="8411212"/>
            <a:ext cx="10125830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Setiap langkah menghasilkan output yang digunakan pada tahap berikutnya</a:t>
            </a: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5314367" y="3896054"/>
            <a:ext cx="0" cy="144589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417496" y="3896054"/>
            <a:ext cx="0" cy="144589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2772527" y="3896054"/>
            <a:ext cx="0" cy="144589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oval" len="lg" w="lg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389315" y="4955154"/>
            <a:ext cx="2806973" cy="701652"/>
            <a:chOff x="0" y="0"/>
            <a:chExt cx="1625811" cy="406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25811" cy="406400"/>
            </a:xfrm>
            <a:custGeom>
              <a:avLst/>
              <a:gdLst/>
              <a:ahLst/>
              <a:cxnLst/>
              <a:rect r="r" b="b" t="t" l="l"/>
              <a:pathLst>
                <a:path h="406400" w="1625811">
                  <a:moveTo>
                    <a:pt x="0" y="0"/>
                  </a:moveTo>
                  <a:lnTo>
                    <a:pt x="1422611" y="0"/>
                  </a:lnTo>
                  <a:lnTo>
                    <a:pt x="1625811" y="203200"/>
                  </a:lnTo>
                  <a:lnTo>
                    <a:pt x="14226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47625"/>
              <a:ext cx="137181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929982" y="4955154"/>
            <a:ext cx="2806973" cy="701652"/>
            <a:chOff x="0" y="0"/>
            <a:chExt cx="1625811" cy="406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25811" cy="406400"/>
            </a:xfrm>
            <a:custGeom>
              <a:avLst/>
              <a:gdLst/>
              <a:ahLst/>
              <a:cxnLst/>
              <a:rect r="r" b="b" t="t" l="l"/>
              <a:pathLst>
                <a:path h="406400" w="1625811">
                  <a:moveTo>
                    <a:pt x="0" y="0"/>
                  </a:moveTo>
                  <a:lnTo>
                    <a:pt x="1422611" y="0"/>
                  </a:lnTo>
                  <a:lnTo>
                    <a:pt x="1625811" y="203200"/>
                  </a:lnTo>
                  <a:lnTo>
                    <a:pt x="14226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47625"/>
              <a:ext cx="137181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018842" y="4532020"/>
            <a:ext cx="1910202" cy="1910202"/>
          </a:xfrm>
          <a:custGeom>
            <a:avLst/>
            <a:gdLst/>
            <a:ahLst/>
            <a:cxnLst/>
            <a:rect r="r" b="b" t="t" l="l"/>
            <a:pathLst>
              <a:path h="1910202" w="1910202">
                <a:moveTo>
                  <a:pt x="0" y="0"/>
                </a:moveTo>
                <a:lnTo>
                  <a:pt x="1910202" y="0"/>
                </a:lnTo>
                <a:lnTo>
                  <a:pt x="1910202" y="1910201"/>
                </a:lnTo>
                <a:lnTo>
                  <a:pt x="0" y="19102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2018842" y="4532020"/>
            <a:ext cx="1547921" cy="154792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19075" cap="sq">
              <a:solidFill>
                <a:srgbClr val="5CB6F9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4559509" y="4532020"/>
            <a:ext cx="1910202" cy="1910202"/>
          </a:xfrm>
          <a:custGeom>
            <a:avLst/>
            <a:gdLst/>
            <a:ahLst/>
            <a:cxnLst/>
            <a:rect r="r" b="b" t="t" l="l"/>
            <a:pathLst>
              <a:path h="1910202" w="1910202">
                <a:moveTo>
                  <a:pt x="0" y="0"/>
                </a:moveTo>
                <a:lnTo>
                  <a:pt x="1910201" y="0"/>
                </a:lnTo>
                <a:lnTo>
                  <a:pt x="1910201" y="1910201"/>
                </a:lnTo>
                <a:lnTo>
                  <a:pt x="0" y="1910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4559509" y="4532020"/>
            <a:ext cx="1547921" cy="1547921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19075" cap="sq">
              <a:solidFill>
                <a:srgbClr val="5CB6F9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7892550" y="3896054"/>
            <a:ext cx="0" cy="144589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oval" len="lg" w="lg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6470649" y="4955154"/>
            <a:ext cx="2806973" cy="701652"/>
            <a:chOff x="0" y="0"/>
            <a:chExt cx="1625811" cy="406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25811" cy="406400"/>
            </a:xfrm>
            <a:custGeom>
              <a:avLst/>
              <a:gdLst/>
              <a:ahLst/>
              <a:cxnLst/>
              <a:rect r="r" b="b" t="t" l="l"/>
              <a:pathLst>
                <a:path h="406400" w="1625811">
                  <a:moveTo>
                    <a:pt x="0" y="0"/>
                  </a:moveTo>
                  <a:lnTo>
                    <a:pt x="1422611" y="0"/>
                  </a:lnTo>
                  <a:lnTo>
                    <a:pt x="1625811" y="203200"/>
                  </a:lnTo>
                  <a:lnTo>
                    <a:pt x="14226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177800" y="-47625"/>
              <a:ext cx="137181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100176" y="4532020"/>
            <a:ext cx="1910202" cy="1910202"/>
          </a:xfrm>
          <a:custGeom>
            <a:avLst/>
            <a:gdLst/>
            <a:ahLst/>
            <a:cxnLst/>
            <a:rect r="r" b="b" t="t" l="l"/>
            <a:pathLst>
              <a:path h="1910202" w="1910202">
                <a:moveTo>
                  <a:pt x="0" y="0"/>
                </a:moveTo>
                <a:lnTo>
                  <a:pt x="1910201" y="0"/>
                </a:lnTo>
                <a:lnTo>
                  <a:pt x="1910201" y="1910201"/>
                </a:lnTo>
                <a:lnTo>
                  <a:pt x="0" y="19102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5" id="35"/>
          <p:cNvGrpSpPr/>
          <p:nvPr/>
        </p:nvGrpSpPr>
        <p:grpSpPr>
          <a:xfrm rot="0">
            <a:off x="7100176" y="4532020"/>
            <a:ext cx="1547921" cy="154792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19075" cap="sq">
              <a:solidFill>
                <a:srgbClr val="5CB6F9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2974937" y="3896054"/>
            <a:ext cx="0" cy="144589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oval" len="lg" w="lg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1894698" y="6387509"/>
            <a:ext cx="212154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Evaluasi 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efore vs After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172382" y="3328750"/>
            <a:ext cx="15661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5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011316" y="4955154"/>
            <a:ext cx="2806973" cy="701652"/>
            <a:chOff x="0" y="0"/>
            <a:chExt cx="1625811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625811" cy="406400"/>
            </a:xfrm>
            <a:custGeom>
              <a:avLst/>
              <a:gdLst/>
              <a:ahLst/>
              <a:cxnLst/>
              <a:rect r="r" b="b" t="t" l="l"/>
              <a:pathLst>
                <a:path h="406400" w="1625811">
                  <a:moveTo>
                    <a:pt x="0" y="0"/>
                  </a:moveTo>
                  <a:lnTo>
                    <a:pt x="1422611" y="0"/>
                  </a:lnTo>
                  <a:lnTo>
                    <a:pt x="1625811" y="203200"/>
                  </a:lnTo>
                  <a:lnTo>
                    <a:pt x="14226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177800" y="-47625"/>
              <a:ext cx="137181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9640843" y="4532020"/>
            <a:ext cx="1910202" cy="1910202"/>
          </a:xfrm>
          <a:custGeom>
            <a:avLst/>
            <a:gdLst/>
            <a:ahLst/>
            <a:cxnLst/>
            <a:rect r="r" b="b" t="t" l="l"/>
            <a:pathLst>
              <a:path h="1910202" w="1910202">
                <a:moveTo>
                  <a:pt x="0" y="0"/>
                </a:moveTo>
                <a:lnTo>
                  <a:pt x="1910201" y="0"/>
                </a:lnTo>
                <a:lnTo>
                  <a:pt x="1910201" y="1910201"/>
                </a:lnTo>
                <a:lnTo>
                  <a:pt x="0" y="1910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5" id="45"/>
          <p:cNvGrpSpPr/>
          <p:nvPr/>
        </p:nvGrpSpPr>
        <p:grpSpPr>
          <a:xfrm rot="0">
            <a:off x="9640843" y="4532020"/>
            <a:ext cx="1547921" cy="1547921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19075" cap="sq">
              <a:solidFill>
                <a:srgbClr val="5CB6F9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551983" y="4955154"/>
            <a:ext cx="2806973" cy="701652"/>
            <a:chOff x="0" y="0"/>
            <a:chExt cx="1625811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625811" cy="406400"/>
            </a:xfrm>
            <a:custGeom>
              <a:avLst/>
              <a:gdLst/>
              <a:ahLst/>
              <a:cxnLst/>
              <a:rect r="r" b="b" t="t" l="l"/>
              <a:pathLst>
                <a:path h="406400" w="1625811">
                  <a:moveTo>
                    <a:pt x="0" y="0"/>
                  </a:moveTo>
                  <a:lnTo>
                    <a:pt x="1422611" y="0"/>
                  </a:lnTo>
                  <a:lnTo>
                    <a:pt x="1625811" y="203200"/>
                  </a:lnTo>
                  <a:lnTo>
                    <a:pt x="14226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177800" y="-47625"/>
              <a:ext cx="137181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2181510" y="4532020"/>
            <a:ext cx="1910202" cy="1910202"/>
          </a:xfrm>
          <a:custGeom>
            <a:avLst/>
            <a:gdLst/>
            <a:ahLst/>
            <a:cxnLst/>
            <a:rect r="r" b="b" t="t" l="l"/>
            <a:pathLst>
              <a:path h="1910202" w="1910202">
                <a:moveTo>
                  <a:pt x="0" y="0"/>
                </a:moveTo>
                <a:lnTo>
                  <a:pt x="1910201" y="0"/>
                </a:lnTo>
                <a:lnTo>
                  <a:pt x="1910201" y="1910201"/>
                </a:lnTo>
                <a:lnTo>
                  <a:pt x="0" y="191020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3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2" id="52"/>
          <p:cNvGrpSpPr/>
          <p:nvPr/>
        </p:nvGrpSpPr>
        <p:grpSpPr>
          <a:xfrm rot="0">
            <a:off x="12181510" y="4532020"/>
            <a:ext cx="1547921" cy="1547921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19075" cap="sq">
              <a:solidFill>
                <a:srgbClr val="5CB6F9"/>
              </a:solidFill>
              <a:prstDash val="solid"/>
              <a:miter/>
            </a:ln>
          </p:spPr>
        </p:sp>
        <p:sp>
          <p:nvSpPr>
            <p:cNvPr name="TextBox 54" id="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2498631" y="4955154"/>
            <a:ext cx="649469" cy="649469"/>
          </a:xfrm>
          <a:custGeom>
            <a:avLst/>
            <a:gdLst/>
            <a:ahLst/>
            <a:cxnLst/>
            <a:rect r="r" b="b" t="t" l="l"/>
            <a:pathLst>
              <a:path h="649469" w="649469">
                <a:moveTo>
                  <a:pt x="0" y="0"/>
                </a:moveTo>
                <a:lnTo>
                  <a:pt x="649469" y="0"/>
                </a:lnTo>
                <a:lnTo>
                  <a:pt x="649469" y="649468"/>
                </a:lnTo>
                <a:lnTo>
                  <a:pt x="0" y="64946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5008735" y="4981246"/>
            <a:ext cx="649469" cy="649469"/>
          </a:xfrm>
          <a:custGeom>
            <a:avLst/>
            <a:gdLst/>
            <a:ahLst/>
            <a:cxnLst/>
            <a:rect r="r" b="b" t="t" l="l"/>
            <a:pathLst>
              <a:path h="649469" w="649469">
                <a:moveTo>
                  <a:pt x="0" y="0"/>
                </a:moveTo>
                <a:lnTo>
                  <a:pt x="649468" y="0"/>
                </a:lnTo>
                <a:lnTo>
                  <a:pt x="649468" y="649468"/>
                </a:lnTo>
                <a:lnTo>
                  <a:pt x="0" y="64946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7" id="57"/>
          <p:cNvSpPr/>
          <p:nvPr/>
        </p:nvSpPr>
        <p:spPr>
          <a:xfrm flipH="false" flipV="false" rot="0">
            <a:off x="7560361" y="4981246"/>
            <a:ext cx="627549" cy="649469"/>
          </a:xfrm>
          <a:custGeom>
            <a:avLst/>
            <a:gdLst/>
            <a:ahLst/>
            <a:cxnLst/>
            <a:rect r="r" b="b" t="t" l="l"/>
            <a:pathLst>
              <a:path h="649469" w="627549">
                <a:moveTo>
                  <a:pt x="0" y="0"/>
                </a:moveTo>
                <a:lnTo>
                  <a:pt x="627549" y="0"/>
                </a:lnTo>
                <a:lnTo>
                  <a:pt x="627549" y="649468"/>
                </a:lnTo>
                <a:lnTo>
                  <a:pt x="0" y="64946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0092355" y="4981246"/>
            <a:ext cx="650281" cy="649469"/>
          </a:xfrm>
          <a:custGeom>
            <a:avLst/>
            <a:gdLst/>
            <a:ahLst/>
            <a:cxnLst/>
            <a:rect r="r" b="b" t="t" l="l"/>
            <a:pathLst>
              <a:path h="649469" w="650281">
                <a:moveTo>
                  <a:pt x="0" y="0"/>
                </a:moveTo>
                <a:lnTo>
                  <a:pt x="650281" y="0"/>
                </a:lnTo>
                <a:lnTo>
                  <a:pt x="650281" y="649468"/>
                </a:lnTo>
                <a:lnTo>
                  <a:pt x="0" y="64946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12643497" y="5007338"/>
            <a:ext cx="627549" cy="649469"/>
          </a:xfrm>
          <a:custGeom>
            <a:avLst/>
            <a:gdLst/>
            <a:ahLst/>
            <a:cxnLst/>
            <a:rect r="r" b="b" t="t" l="l"/>
            <a:pathLst>
              <a:path h="649469" w="627549">
                <a:moveTo>
                  <a:pt x="0" y="0"/>
                </a:moveTo>
                <a:lnTo>
                  <a:pt x="627549" y="0"/>
                </a:lnTo>
                <a:lnTo>
                  <a:pt x="627549" y="649468"/>
                </a:lnTo>
                <a:lnTo>
                  <a:pt x="0" y="64946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0" id="60"/>
          <p:cNvSpPr txBox="true"/>
          <p:nvPr/>
        </p:nvSpPr>
        <p:spPr>
          <a:xfrm rot="0">
            <a:off x="4253595" y="6387509"/>
            <a:ext cx="212154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Atur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Konfigurasi LoRA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37256" y="6387509"/>
            <a:ext cx="212154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Pantau Pros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es Training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531279" y="3328750"/>
            <a:ext cx="15661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</a:t>
            </a:r>
            <a:r>
              <a:rPr lang="en-US" b="true" sz="220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614940" y="3328750"/>
            <a:ext cx="15661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4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711754" y="6387509"/>
            <a:ext cx="21215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Sia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pkan Dataset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989438" y="3328750"/>
            <a:ext cx="15661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1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831778" y="6387509"/>
            <a:ext cx="212154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Jalan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kan </a:t>
            </a:r>
          </a:p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Fine-Tuning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109461" y="3328750"/>
            <a:ext cx="15661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3</a:t>
            </a:r>
          </a:p>
        </p:txBody>
      </p:sp>
      <p:sp>
        <p:nvSpPr>
          <p:cNvPr name="AutoShape 68" id="68"/>
          <p:cNvSpPr/>
          <p:nvPr/>
        </p:nvSpPr>
        <p:spPr>
          <a:xfrm>
            <a:off x="15497891" y="3897815"/>
            <a:ext cx="0" cy="144589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oval" len="lg" w="lg"/>
            <a:tailEnd type="none" len="sm" w="sm"/>
          </a:ln>
        </p:spPr>
      </p:sp>
      <p:grpSp>
        <p:nvGrpSpPr>
          <p:cNvPr name="Group 69" id="69"/>
          <p:cNvGrpSpPr/>
          <p:nvPr/>
        </p:nvGrpSpPr>
        <p:grpSpPr>
          <a:xfrm rot="0">
            <a:off x="14091711" y="4956914"/>
            <a:ext cx="2806973" cy="701652"/>
            <a:chOff x="0" y="0"/>
            <a:chExt cx="1625811" cy="406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25811" cy="406400"/>
            </a:xfrm>
            <a:custGeom>
              <a:avLst/>
              <a:gdLst/>
              <a:ahLst/>
              <a:cxnLst/>
              <a:rect r="r" b="b" t="t" l="l"/>
              <a:pathLst>
                <a:path h="406400" w="1625811">
                  <a:moveTo>
                    <a:pt x="0" y="0"/>
                  </a:moveTo>
                  <a:lnTo>
                    <a:pt x="1422611" y="0"/>
                  </a:lnTo>
                  <a:lnTo>
                    <a:pt x="1625811" y="203200"/>
                  </a:lnTo>
                  <a:lnTo>
                    <a:pt x="142261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AE8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177800" y="-47625"/>
              <a:ext cx="137181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4721238" y="4533780"/>
            <a:ext cx="1910202" cy="1910202"/>
          </a:xfrm>
          <a:custGeom>
            <a:avLst/>
            <a:gdLst/>
            <a:ahLst/>
            <a:cxnLst/>
            <a:rect r="r" b="b" t="t" l="l"/>
            <a:pathLst>
              <a:path h="1910202" w="1910202">
                <a:moveTo>
                  <a:pt x="0" y="0"/>
                </a:moveTo>
                <a:lnTo>
                  <a:pt x="1910201" y="0"/>
                </a:lnTo>
                <a:lnTo>
                  <a:pt x="1910201" y="1910202"/>
                </a:lnTo>
                <a:lnTo>
                  <a:pt x="0" y="19102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7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3" id="73"/>
          <p:cNvGrpSpPr/>
          <p:nvPr/>
        </p:nvGrpSpPr>
        <p:grpSpPr>
          <a:xfrm rot="0">
            <a:off x="14721238" y="4533780"/>
            <a:ext cx="1547921" cy="1547921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219075" cap="sq">
              <a:solidFill>
                <a:srgbClr val="5CB6F9"/>
              </a:solidFill>
              <a:prstDash val="solid"/>
              <a:miter/>
            </a:ln>
          </p:spPr>
        </p:sp>
        <p:sp>
          <p:nvSpPr>
            <p:cNvPr name="TextBox 75" id="7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5172750" y="4983006"/>
            <a:ext cx="650281" cy="649469"/>
          </a:xfrm>
          <a:custGeom>
            <a:avLst/>
            <a:gdLst/>
            <a:ahLst/>
            <a:cxnLst/>
            <a:rect r="r" b="b" t="t" l="l"/>
            <a:pathLst>
              <a:path h="649469" w="650281">
                <a:moveTo>
                  <a:pt x="0" y="0"/>
                </a:moveTo>
                <a:lnTo>
                  <a:pt x="650281" y="0"/>
                </a:lnTo>
                <a:lnTo>
                  <a:pt x="650281" y="649469"/>
                </a:lnTo>
                <a:lnTo>
                  <a:pt x="0" y="64946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7" id="77"/>
          <p:cNvSpPr txBox="true"/>
          <p:nvPr/>
        </p:nvSpPr>
        <p:spPr>
          <a:xfrm rot="0">
            <a:off x="14417651" y="6389269"/>
            <a:ext cx="212154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Simpan &amp; Lacak Eksp</a:t>
            </a:r>
            <a:r>
              <a:rPr lang="en-US" sz="220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erimen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4695335" y="3330511"/>
            <a:ext cx="156617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sz="2200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6</a:t>
            </a:r>
          </a:p>
        </p:txBody>
      </p:sp>
    </p:spTree>
  </p:cSld>
  <p:clrMapOvr>
    <a:masterClrMapping/>
  </p:clrMapOvr>
  <p:transition spd="med">
    <p:wipe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70591" y="967826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14425"/>
            <a:ext cx="16230600" cy="735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62"/>
              </a:lnSpc>
            </a:pPr>
            <a:r>
              <a:rPr lang="en-US" sz="5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Persiapa</a:t>
            </a:r>
            <a:r>
              <a:rPr lang="en-US" b="true" sz="5400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Sebelum Praktik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382874" y="359016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2" y="0"/>
                </a:lnTo>
                <a:lnTo>
                  <a:pt x="5780662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792413" y="6746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2" y="0"/>
                </a:lnTo>
                <a:lnTo>
                  <a:pt x="5780662" y="708132"/>
                </a:lnTo>
                <a:lnTo>
                  <a:pt x="0" y="70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717542" y="1202879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957486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Pilih jalur komput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asi yang tersedia untuk mengikuti proses fine-tuning.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38774" y="8303103"/>
            <a:ext cx="15410452" cy="955197"/>
            <a:chOff x="0" y="0"/>
            <a:chExt cx="7874061" cy="4880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74061" cy="488063"/>
            </a:xfrm>
            <a:custGeom>
              <a:avLst/>
              <a:gdLst/>
              <a:ahLst/>
              <a:cxnLst/>
              <a:rect r="r" b="b" t="t" l="l"/>
              <a:pathLst>
                <a:path h="488063" w="7874061">
                  <a:moveTo>
                    <a:pt x="9043" y="0"/>
                  </a:moveTo>
                  <a:lnTo>
                    <a:pt x="7865018" y="0"/>
                  </a:lnTo>
                  <a:cubicBezTo>
                    <a:pt x="7870013" y="0"/>
                    <a:pt x="7874061" y="4049"/>
                    <a:pt x="7874061" y="9043"/>
                  </a:cubicBezTo>
                  <a:lnTo>
                    <a:pt x="7874061" y="479021"/>
                  </a:lnTo>
                  <a:cubicBezTo>
                    <a:pt x="7874061" y="484015"/>
                    <a:pt x="7870013" y="488063"/>
                    <a:pt x="7865018" y="488063"/>
                  </a:cubicBezTo>
                  <a:lnTo>
                    <a:pt x="9043" y="488063"/>
                  </a:lnTo>
                  <a:cubicBezTo>
                    <a:pt x="4049" y="488063"/>
                    <a:pt x="0" y="484015"/>
                    <a:pt x="0" y="479021"/>
                  </a:cubicBezTo>
                  <a:lnTo>
                    <a:pt x="0" y="9043"/>
                  </a:lnTo>
                  <a:cubicBezTo>
                    <a:pt x="0" y="4049"/>
                    <a:pt x="4049" y="0"/>
                    <a:pt x="9043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874061" cy="507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753968" y="8445422"/>
            <a:ext cx="709587" cy="670560"/>
          </a:xfrm>
          <a:custGeom>
            <a:avLst/>
            <a:gdLst/>
            <a:ahLst/>
            <a:cxnLst/>
            <a:rect r="r" b="b" t="t" l="l"/>
            <a:pathLst>
              <a:path h="670560" w="709587">
                <a:moveTo>
                  <a:pt x="0" y="0"/>
                </a:moveTo>
                <a:lnTo>
                  <a:pt x="709588" y="0"/>
                </a:lnTo>
                <a:lnTo>
                  <a:pt x="709588" y="670560"/>
                </a:lnTo>
                <a:lnTo>
                  <a:pt x="0" y="6705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25254" y="8626397"/>
            <a:ext cx="14000607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Peserta dapat mengikuti praktik melalui GPU lokal, cloud fallback, atau walkthrough yang telah disiapkan</a:t>
            </a: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47093" y="3156713"/>
            <a:ext cx="4297535" cy="4387725"/>
            <a:chOff x="0" y="0"/>
            <a:chExt cx="5730047" cy="5850301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730047" cy="5850301"/>
              <a:chOff x="0" y="0"/>
              <a:chExt cx="1683784" cy="171912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683784" cy="1719121"/>
              </a:xfrm>
              <a:custGeom>
                <a:avLst/>
                <a:gdLst/>
                <a:ahLst/>
                <a:cxnLst/>
                <a:rect r="r" b="b" t="t" l="l"/>
                <a:pathLst>
                  <a:path h="1719121" w="1683784">
                    <a:moveTo>
                      <a:pt x="86471" y="0"/>
                    </a:moveTo>
                    <a:lnTo>
                      <a:pt x="1597313" y="0"/>
                    </a:lnTo>
                    <a:cubicBezTo>
                      <a:pt x="1620247" y="0"/>
                      <a:pt x="1642241" y="9110"/>
                      <a:pt x="1658457" y="25327"/>
                    </a:cubicBezTo>
                    <a:cubicBezTo>
                      <a:pt x="1674674" y="41543"/>
                      <a:pt x="1683784" y="63537"/>
                      <a:pt x="1683784" y="86471"/>
                    </a:cubicBezTo>
                    <a:lnTo>
                      <a:pt x="1683784" y="1632650"/>
                    </a:lnTo>
                    <a:cubicBezTo>
                      <a:pt x="1683784" y="1655583"/>
                      <a:pt x="1674674" y="1677578"/>
                      <a:pt x="1658457" y="1693794"/>
                    </a:cubicBezTo>
                    <a:cubicBezTo>
                      <a:pt x="1642241" y="1710011"/>
                      <a:pt x="1620247" y="1719121"/>
                      <a:pt x="1597313" y="1719121"/>
                    </a:cubicBezTo>
                    <a:lnTo>
                      <a:pt x="86471" y="1719121"/>
                    </a:lnTo>
                    <a:cubicBezTo>
                      <a:pt x="63537" y="1719121"/>
                      <a:pt x="41543" y="1710011"/>
                      <a:pt x="25327" y="1693794"/>
                    </a:cubicBezTo>
                    <a:cubicBezTo>
                      <a:pt x="9110" y="1677578"/>
                      <a:pt x="0" y="1655583"/>
                      <a:pt x="0" y="1632650"/>
                    </a:cubicBezTo>
                    <a:lnTo>
                      <a:pt x="0" y="86471"/>
                    </a:lnTo>
                    <a:cubicBezTo>
                      <a:pt x="0" y="63537"/>
                      <a:pt x="9110" y="41543"/>
                      <a:pt x="25327" y="25327"/>
                    </a:cubicBezTo>
                    <a:cubicBezTo>
                      <a:pt x="41543" y="9110"/>
                      <a:pt x="63537" y="0"/>
                      <a:pt x="86471" y="0"/>
                    </a:cubicBezTo>
                    <a:close/>
                  </a:path>
                </a:pathLst>
              </a:custGeom>
              <a:solidFill>
                <a:srgbClr val="CAE8FF">
                  <a:alpha val="24706"/>
                </a:srgbClr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19050"/>
                <a:ext cx="1683784" cy="1738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50377" y="455821"/>
              <a:ext cx="4829292" cy="677329"/>
              <a:chOff x="0" y="0"/>
              <a:chExt cx="4829292" cy="677329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829228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4829228">
                    <a:moveTo>
                      <a:pt x="0" y="93785"/>
                    </a:moveTo>
                    <a:cubicBezTo>
                      <a:pt x="0" y="42047"/>
                      <a:pt x="43072" y="0"/>
                      <a:pt x="96072" y="0"/>
                    </a:cubicBezTo>
                    <a:lnTo>
                      <a:pt x="4733156" y="0"/>
                    </a:lnTo>
                    <a:cubicBezTo>
                      <a:pt x="4786156" y="0"/>
                      <a:pt x="4829228" y="42047"/>
                      <a:pt x="4829228" y="93785"/>
                    </a:cubicBezTo>
                    <a:lnTo>
                      <a:pt x="4829228" y="583497"/>
                    </a:lnTo>
                    <a:cubicBezTo>
                      <a:pt x="4829228" y="635235"/>
                      <a:pt x="4786156" y="677282"/>
                      <a:pt x="4733156" y="677282"/>
                    </a:cubicBezTo>
                    <a:lnTo>
                      <a:pt x="96072" y="677282"/>
                    </a:lnTo>
                    <a:cubicBezTo>
                      <a:pt x="43072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579AD1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674252" y="543661"/>
              <a:ext cx="438154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Opsi 1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740931" y="2715683"/>
              <a:ext cx="4248186" cy="1780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84"/>
                </a:lnSpc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Gunakan jika laptop m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emiliki NVIDIA GPU yang memadai untuk menjalankan eksperimen.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406482" y="1600513"/>
              <a:ext cx="4917083" cy="459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b="true" sz="2400">
                  <a:solidFill>
                    <a:srgbClr val="1622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</a:t>
              </a:r>
              <a:r>
                <a:rPr lang="en-US" b="true" sz="2400">
                  <a:solidFill>
                    <a:srgbClr val="1622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aptop Lokal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11870" y="3156713"/>
            <a:ext cx="4297535" cy="4387725"/>
            <a:chOff x="0" y="0"/>
            <a:chExt cx="5730047" cy="585030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5730047" cy="5850301"/>
              <a:chOff x="0" y="0"/>
              <a:chExt cx="1683784" cy="17191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683784" cy="1719121"/>
              </a:xfrm>
              <a:custGeom>
                <a:avLst/>
                <a:gdLst/>
                <a:ahLst/>
                <a:cxnLst/>
                <a:rect r="r" b="b" t="t" l="l"/>
                <a:pathLst>
                  <a:path h="1719121" w="1683784">
                    <a:moveTo>
                      <a:pt x="86471" y="0"/>
                    </a:moveTo>
                    <a:lnTo>
                      <a:pt x="1597313" y="0"/>
                    </a:lnTo>
                    <a:cubicBezTo>
                      <a:pt x="1620247" y="0"/>
                      <a:pt x="1642241" y="9110"/>
                      <a:pt x="1658457" y="25327"/>
                    </a:cubicBezTo>
                    <a:cubicBezTo>
                      <a:pt x="1674674" y="41543"/>
                      <a:pt x="1683784" y="63537"/>
                      <a:pt x="1683784" y="86471"/>
                    </a:cubicBezTo>
                    <a:lnTo>
                      <a:pt x="1683784" y="1632650"/>
                    </a:lnTo>
                    <a:cubicBezTo>
                      <a:pt x="1683784" y="1655583"/>
                      <a:pt x="1674674" y="1677578"/>
                      <a:pt x="1658457" y="1693794"/>
                    </a:cubicBezTo>
                    <a:cubicBezTo>
                      <a:pt x="1642241" y="1710011"/>
                      <a:pt x="1620247" y="1719121"/>
                      <a:pt x="1597313" y="1719121"/>
                    </a:cubicBezTo>
                    <a:lnTo>
                      <a:pt x="86471" y="1719121"/>
                    </a:lnTo>
                    <a:cubicBezTo>
                      <a:pt x="63537" y="1719121"/>
                      <a:pt x="41543" y="1710011"/>
                      <a:pt x="25327" y="1693794"/>
                    </a:cubicBezTo>
                    <a:cubicBezTo>
                      <a:pt x="9110" y="1677578"/>
                      <a:pt x="0" y="1655583"/>
                      <a:pt x="0" y="1632650"/>
                    </a:cubicBezTo>
                    <a:lnTo>
                      <a:pt x="0" y="86471"/>
                    </a:lnTo>
                    <a:cubicBezTo>
                      <a:pt x="0" y="63537"/>
                      <a:pt x="9110" y="41543"/>
                      <a:pt x="25327" y="25327"/>
                    </a:cubicBezTo>
                    <a:cubicBezTo>
                      <a:pt x="41543" y="9110"/>
                      <a:pt x="63537" y="0"/>
                      <a:pt x="86471" y="0"/>
                    </a:cubicBezTo>
                    <a:close/>
                  </a:path>
                </a:pathLst>
              </a:custGeom>
              <a:solidFill>
                <a:srgbClr val="CAE8FF">
                  <a:alpha val="24706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1683784" cy="1738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450377" y="455821"/>
              <a:ext cx="4829292" cy="677329"/>
              <a:chOff x="0" y="0"/>
              <a:chExt cx="4829292" cy="677329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829228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4829228">
                    <a:moveTo>
                      <a:pt x="0" y="93785"/>
                    </a:moveTo>
                    <a:cubicBezTo>
                      <a:pt x="0" y="42047"/>
                      <a:pt x="43072" y="0"/>
                      <a:pt x="96072" y="0"/>
                    </a:cubicBezTo>
                    <a:lnTo>
                      <a:pt x="4733156" y="0"/>
                    </a:lnTo>
                    <a:cubicBezTo>
                      <a:pt x="4786156" y="0"/>
                      <a:pt x="4829228" y="42047"/>
                      <a:pt x="4829228" y="93785"/>
                    </a:cubicBezTo>
                    <a:lnTo>
                      <a:pt x="4829228" y="583497"/>
                    </a:lnTo>
                    <a:cubicBezTo>
                      <a:pt x="4829228" y="635235"/>
                      <a:pt x="4786156" y="677282"/>
                      <a:pt x="4733156" y="677282"/>
                    </a:cubicBezTo>
                    <a:lnTo>
                      <a:pt x="96072" y="677282"/>
                    </a:lnTo>
                    <a:cubicBezTo>
                      <a:pt x="43072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579AD1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674252" y="543661"/>
              <a:ext cx="438154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Opsi 2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40931" y="2715683"/>
              <a:ext cx="4248186" cy="1335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84"/>
                </a:lnSpc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Gunakan sebagai fallback 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hands-on jika GPU lokal tidak tersedia.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06482" y="1600513"/>
              <a:ext cx="4917083" cy="459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b="true" sz="2400">
                  <a:solidFill>
                    <a:srgbClr val="1622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Colab atau Kaggle</a:t>
              </a:r>
              <a:r>
                <a:rPr lang="en-US" b="true" sz="2400">
                  <a:solidFill>
                    <a:srgbClr val="1622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T4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276647" y="3156713"/>
            <a:ext cx="4664260" cy="4387725"/>
            <a:chOff x="0" y="0"/>
            <a:chExt cx="6219013" cy="5850301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219013" cy="5850301"/>
              <a:chOff x="0" y="0"/>
              <a:chExt cx="1827468" cy="171912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827468" cy="1719121"/>
              </a:xfrm>
              <a:custGeom>
                <a:avLst/>
                <a:gdLst/>
                <a:ahLst/>
                <a:cxnLst/>
                <a:rect r="r" b="b" t="t" l="l"/>
                <a:pathLst>
                  <a:path h="1719121" w="1827468">
                    <a:moveTo>
                      <a:pt x="79672" y="0"/>
                    </a:moveTo>
                    <a:lnTo>
                      <a:pt x="1747795" y="0"/>
                    </a:lnTo>
                    <a:cubicBezTo>
                      <a:pt x="1768926" y="0"/>
                      <a:pt x="1789191" y="8394"/>
                      <a:pt x="1804132" y="23335"/>
                    </a:cubicBezTo>
                    <a:cubicBezTo>
                      <a:pt x="1819074" y="38277"/>
                      <a:pt x="1827468" y="58542"/>
                      <a:pt x="1827468" y="79672"/>
                    </a:cubicBezTo>
                    <a:lnTo>
                      <a:pt x="1827468" y="1639449"/>
                    </a:lnTo>
                    <a:cubicBezTo>
                      <a:pt x="1827468" y="1660579"/>
                      <a:pt x="1819074" y="1680844"/>
                      <a:pt x="1804132" y="1695785"/>
                    </a:cubicBezTo>
                    <a:cubicBezTo>
                      <a:pt x="1789191" y="1710727"/>
                      <a:pt x="1768926" y="1719121"/>
                      <a:pt x="1747795" y="1719121"/>
                    </a:cubicBezTo>
                    <a:lnTo>
                      <a:pt x="79672" y="1719121"/>
                    </a:lnTo>
                    <a:cubicBezTo>
                      <a:pt x="58542" y="1719121"/>
                      <a:pt x="38277" y="1710727"/>
                      <a:pt x="23335" y="1695785"/>
                    </a:cubicBezTo>
                    <a:cubicBezTo>
                      <a:pt x="8394" y="1680844"/>
                      <a:pt x="0" y="1660579"/>
                      <a:pt x="0" y="1639449"/>
                    </a:cubicBezTo>
                    <a:lnTo>
                      <a:pt x="0" y="79672"/>
                    </a:lnTo>
                    <a:cubicBezTo>
                      <a:pt x="0" y="58542"/>
                      <a:pt x="8394" y="38277"/>
                      <a:pt x="23335" y="23335"/>
                    </a:cubicBezTo>
                    <a:cubicBezTo>
                      <a:pt x="38277" y="8394"/>
                      <a:pt x="58542" y="0"/>
                      <a:pt x="79672" y="0"/>
                    </a:cubicBezTo>
                    <a:close/>
                  </a:path>
                </a:pathLst>
              </a:custGeom>
              <a:solidFill>
                <a:srgbClr val="CAE8FF">
                  <a:alpha val="24706"/>
                </a:srgbClr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1827468" cy="173817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799463" y="455821"/>
              <a:ext cx="4829292" cy="677329"/>
              <a:chOff x="0" y="0"/>
              <a:chExt cx="4829292" cy="67732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829228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4829228">
                    <a:moveTo>
                      <a:pt x="0" y="93785"/>
                    </a:moveTo>
                    <a:cubicBezTo>
                      <a:pt x="0" y="42047"/>
                      <a:pt x="43072" y="0"/>
                      <a:pt x="96072" y="0"/>
                    </a:cubicBezTo>
                    <a:lnTo>
                      <a:pt x="4733156" y="0"/>
                    </a:lnTo>
                    <a:cubicBezTo>
                      <a:pt x="4786156" y="0"/>
                      <a:pt x="4829228" y="42047"/>
                      <a:pt x="4829228" y="93785"/>
                    </a:cubicBezTo>
                    <a:lnTo>
                      <a:pt x="4829228" y="583497"/>
                    </a:lnTo>
                    <a:cubicBezTo>
                      <a:pt x="4829228" y="635235"/>
                      <a:pt x="4786156" y="677282"/>
                      <a:pt x="4733156" y="677282"/>
                    </a:cubicBezTo>
                    <a:lnTo>
                      <a:pt x="96072" y="677282"/>
                    </a:lnTo>
                    <a:cubicBezTo>
                      <a:pt x="43072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579AD1"/>
              </a:solidFill>
            </p:spPr>
          </p:sp>
        </p:grpSp>
        <p:sp>
          <p:nvSpPr>
            <p:cNvPr name="TextBox 37" id="37"/>
            <p:cNvSpPr txBox="true"/>
            <p:nvPr/>
          </p:nvSpPr>
          <p:spPr>
            <a:xfrm rot="0">
              <a:off x="1023338" y="543661"/>
              <a:ext cx="438154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Opsi 3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514733" y="2356273"/>
              <a:ext cx="5398753" cy="3113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84"/>
                </a:lnSpc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Jika live training tida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 d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apat dijalanka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n, ikuti: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ode training,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training logs,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loss graph,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dan hasil eks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per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imen yang telah dijalankan sebelumnya.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755568" y="1335193"/>
              <a:ext cx="4917083" cy="8655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b="true" sz="2400">
                  <a:solidFill>
                    <a:srgbClr val="1622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Instructor-Led</a:t>
              </a:r>
              <a:r>
                <a:rPr lang="en-US" b="true" sz="2400">
                  <a:solidFill>
                    <a:srgbClr val="16224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Walkthrough</a:t>
              </a:r>
            </a:p>
          </p:txBody>
        </p:sp>
      </p:grpSp>
    </p:spTree>
  </p:cSld>
  <p:clrMapOvr>
    <a:masterClrMapping/>
  </p:clrMapOvr>
  <p:transition spd="med">
    <p:wipe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165" y="1896639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397669" y="2169388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2" y="0"/>
                </a:moveTo>
                <a:lnTo>
                  <a:pt x="0" y="0"/>
                </a:lnTo>
                <a:lnTo>
                  <a:pt x="0" y="708131"/>
                </a:lnTo>
                <a:lnTo>
                  <a:pt x="5780662" y="708131"/>
                </a:lnTo>
                <a:lnTo>
                  <a:pt x="5780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97880" y="360076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0331" y="714142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2" y="0"/>
                </a:lnTo>
                <a:lnTo>
                  <a:pt x="5780662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4130960" y="5329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6201349" y="4510058"/>
            <a:ext cx="939267" cy="0"/>
          </a:xfrm>
          <a:prstGeom prst="line">
            <a:avLst/>
          </a:pr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>
            <a:off x="10215362" y="3700639"/>
            <a:ext cx="1892238" cy="809418"/>
          </a:xfrm>
          <a:custGeom>
            <a:avLst/>
            <a:gdLst/>
            <a:ahLst/>
            <a:cxnLst/>
            <a:rect r="r" b="b" t="t" l="l"/>
            <a:pathLst>
              <a:path h="809418" w="1892238">
                <a:moveTo>
                  <a:pt x="0" y="809419"/>
                </a:moveTo>
                <a:lnTo>
                  <a:pt x="717519" y="809419"/>
                </a:lnTo>
                <a:cubicBezTo>
                  <a:pt x="843771" y="809419"/>
                  <a:pt x="946119" y="707071"/>
                  <a:pt x="946119" y="580819"/>
                </a:cubicBezTo>
                <a:lnTo>
                  <a:pt x="946119" y="228600"/>
                </a:lnTo>
                <a:cubicBezTo>
                  <a:pt x="946119" y="102348"/>
                  <a:pt x="1048467" y="0"/>
                  <a:pt x="1174719" y="0"/>
                </a:cubicBezTo>
                <a:lnTo>
                  <a:pt x="1892238" y="0"/>
                </a:lnTo>
              </a:path>
            </a:pathLst>
          </a:cu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9" id="9"/>
          <p:cNvGrpSpPr/>
          <p:nvPr/>
        </p:nvGrpSpPr>
        <p:grpSpPr>
          <a:xfrm rot="0">
            <a:off x="3126604" y="3079760"/>
            <a:ext cx="3074745" cy="2860596"/>
            <a:chOff x="0" y="0"/>
            <a:chExt cx="1204692" cy="1120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4692" cy="1120788"/>
            </a:xfrm>
            <a:custGeom>
              <a:avLst/>
              <a:gdLst/>
              <a:ahLst/>
              <a:cxnLst/>
              <a:rect r="r" b="b" t="t" l="l"/>
              <a:pathLst>
                <a:path h="1120788" w="1204692">
                  <a:moveTo>
                    <a:pt x="80573" y="0"/>
                  </a:moveTo>
                  <a:lnTo>
                    <a:pt x="1124119" y="0"/>
                  </a:lnTo>
                  <a:cubicBezTo>
                    <a:pt x="1145488" y="0"/>
                    <a:pt x="1165983" y="8489"/>
                    <a:pt x="1181093" y="23599"/>
                  </a:cubicBezTo>
                  <a:cubicBezTo>
                    <a:pt x="1196203" y="38710"/>
                    <a:pt x="1204692" y="59204"/>
                    <a:pt x="1204692" y="80573"/>
                  </a:cubicBezTo>
                  <a:lnTo>
                    <a:pt x="1204692" y="1040215"/>
                  </a:lnTo>
                  <a:cubicBezTo>
                    <a:pt x="1204692" y="1061584"/>
                    <a:pt x="1196203" y="1082078"/>
                    <a:pt x="1181093" y="1097189"/>
                  </a:cubicBezTo>
                  <a:cubicBezTo>
                    <a:pt x="1165983" y="1112299"/>
                    <a:pt x="1145488" y="1120788"/>
                    <a:pt x="1124119" y="1120788"/>
                  </a:cubicBezTo>
                  <a:lnTo>
                    <a:pt x="80573" y="1120788"/>
                  </a:lnTo>
                  <a:cubicBezTo>
                    <a:pt x="59204" y="1120788"/>
                    <a:pt x="38710" y="1112299"/>
                    <a:pt x="23599" y="1097189"/>
                  </a:cubicBezTo>
                  <a:cubicBezTo>
                    <a:pt x="8489" y="1082078"/>
                    <a:pt x="0" y="1061584"/>
                    <a:pt x="0" y="1040215"/>
                  </a:cubicBezTo>
                  <a:lnTo>
                    <a:pt x="0" y="80573"/>
                  </a:lnTo>
                  <a:cubicBezTo>
                    <a:pt x="0" y="59204"/>
                    <a:pt x="8489" y="38710"/>
                    <a:pt x="23599" y="23599"/>
                  </a:cubicBezTo>
                  <a:cubicBezTo>
                    <a:pt x="38710" y="8489"/>
                    <a:pt x="59204" y="0"/>
                    <a:pt x="80573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204692" cy="113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140616" y="3079760"/>
            <a:ext cx="3074745" cy="2860596"/>
            <a:chOff x="0" y="0"/>
            <a:chExt cx="1204692" cy="11207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04692" cy="1120788"/>
            </a:xfrm>
            <a:custGeom>
              <a:avLst/>
              <a:gdLst/>
              <a:ahLst/>
              <a:cxnLst/>
              <a:rect r="r" b="b" t="t" l="l"/>
              <a:pathLst>
                <a:path h="1120788" w="1204692">
                  <a:moveTo>
                    <a:pt x="80573" y="0"/>
                  </a:moveTo>
                  <a:lnTo>
                    <a:pt x="1124119" y="0"/>
                  </a:lnTo>
                  <a:cubicBezTo>
                    <a:pt x="1145488" y="0"/>
                    <a:pt x="1165983" y="8489"/>
                    <a:pt x="1181093" y="23599"/>
                  </a:cubicBezTo>
                  <a:cubicBezTo>
                    <a:pt x="1196203" y="38710"/>
                    <a:pt x="1204692" y="59204"/>
                    <a:pt x="1204692" y="80573"/>
                  </a:cubicBezTo>
                  <a:lnTo>
                    <a:pt x="1204692" y="1040215"/>
                  </a:lnTo>
                  <a:cubicBezTo>
                    <a:pt x="1204692" y="1061584"/>
                    <a:pt x="1196203" y="1082078"/>
                    <a:pt x="1181093" y="1097189"/>
                  </a:cubicBezTo>
                  <a:cubicBezTo>
                    <a:pt x="1165983" y="1112299"/>
                    <a:pt x="1145488" y="1120788"/>
                    <a:pt x="1124119" y="1120788"/>
                  </a:cubicBezTo>
                  <a:lnTo>
                    <a:pt x="80573" y="1120788"/>
                  </a:lnTo>
                  <a:cubicBezTo>
                    <a:pt x="59204" y="1120788"/>
                    <a:pt x="38710" y="1112299"/>
                    <a:pt x="23599" y="1097189"/>
                  </a:cubicBezTo>
                  <a:cubicBezTo>
                    <a:pt x="8489" y="1082078"/>
                    <a:pt x="0" y="1061584"/>
                    <a:pt x="0" y="1040215"/>
                  </a:cubicBezTo>
                  <a:lnTo>
                    <a:pt x="0" y="80573"/>
                  </a:lnTo>
                  <a:cubicBezTo>
                    <a:pt x="0" y="59204"/>
                    <a:pt x="8489" y="38710"/>
                    <a:pt x="23599" y="23599"/>
                  </a:cubicBezTo>
                  <a:cubicBezTo>
                    <a:pt x="38710" y="8489"/>
                    <a:pt x="59204" y="0"/>
                    <a:pt x="80573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204692" cy="11398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3950266" y="3628678"/>
            <a:ext cx="1427421" cy="1241856"/>
          </a:xfrm>
          <a:custGeom>
            <a:avLst/>
            <a:gdLst/>
            <a:ahLst/>
            <a:cxnLst/>
            <a:rect r="r" b="b" t="t" l="l"/>
            <a:pathLst>
              <a:path h="1241856" w="1427421">
                <a:moveTo>
                  <a:pt x="0" y="0"/>
                </a:moveTo>
                <a:lnTo>
                  <a:pt x="1427421" y="0"/>
                </a:lnTo>
                <a:lnTo>
                  <a:pt x="1427421" y="1241856"/>
                </a:lnTo>
                <a:lnTo>
                  <a:pt x="0" y="1241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107600" y="3079760"/>
            <a:ext cx="3053796" cy="1241758"/>
            <a:chOff x="0" y="0"/>
            <a:chExt cx="4071728" cy="165567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071728" cy="1655678"/>
              <a:chOff x="0" y="0"/>
              <a:chExt cx="1196484" cy="48652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96484" cy="486524"/>
              </a:xfrm>
              <a:custGeom>
                <a:avLst/>
                <a:gdLst/>
                <a:ahLst/>
                <a:cxnLst/>
                <a:rect r="r" b="b" t="t" l="l"/>
                <a:pathLst>
                  <a:path h="486524" w="1196484">
                    <a:moveTo>
                      <a:pt x="81126" y="0"/>
                    </a:moveTo>
                    <a:lnTo>
                      <a:pt x="1115359" y="0"/>
                    </a:lnTo>
                    <a:cubicBezTo>
                      <a:pt x="1136875" y="0"/>
                      <a:pt x="1157509" y="8547"/>
                      <a:pt x="1172723" y="23761"/>
                    </a:cubicBezTo>
                    <a:cubicBezTo>
                      <a:pt x="1187937" y="38975"/>
                      <a:pt x="1196484" y="59610"/>
                      <a:pt x="1196484" y="81126"/>
                    </a:cubicBezTo>
                    <a:lnTo>
                      <a:pt x="1196484" y="405398"/>
                    </a:lnTo>
                    <a:cubicBezTo>
                      <a:pt x="1196484" y="450203"/>
                      <a:pt x="1160163" y="486524"/>
                      <a:pt x="1115359" y="486524"/>
                    </a:cubicBezTo>
                    <a:lnTo>
                      <a:pt x="81126" y="486524"/>
                    </a:lnTo>
                    <a:cubicBezTo>
                      <a:pt x="36321" y="486524"/>
                      <a:pt x="0" y="450203"/>
                      <a:pt x="0" y="405398"/>
                    </a:cubicBezTo>
                    <a:lnTo>
                      <a:pt x="0" y="81126"/>
                    </a:lnTo>
                    <a:cubicBezTo>
                      <a:pt x="0" y="36321"/>
                      <a:pt x="36321" y="0"/>
                      <a:pt x="81126" y="0"/>
                    </a:cubicBezTo>
                    <a:close/>
                  </a:path>
                </a:pathLst>
              </a:custGeom>
              <a:ln w="57150" cap="rnd">
                <a:solidFill>
                  <a:srgbClr val="CAE8FF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1196484" cy="5055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83436" y="555975"/>
              <a:ext cx="2704856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Training Set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07600" y="4698597"/>
            <a:ext cx="3053796" cy="1241758"/>
            <a:chOff x="0" y="0"/>
            <a:chExt cx="4071728" cy="165567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071728" cy="1655678"/>
              <a:chOff x="0" y="0"/>
              <a:chExt cx="1196484" cy="48652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196484" cy="486524"/>
              </a:xfrm>
              <a:custGeom>
                <a:avLst/>
                <a:gdLst/>
                <a:ahLst/>
                <a:cxnLst/>
                <a:rect r="r" b="b" t="t" l="l"/>
                <a:pathLst>
                  <a:path h="486524" w="1196484">
                    <a:moveTo>
                      <a:pt x="81126" y="0"/>
                    </a:moveTo>
                    <a:lnTo>
                      <a:pt x="1115359" y="0"/>
                    </a:lnTo>
                    <a:cubicBezTo>
                      <a:pt x="1136875" y="0"/>
                      <a:pt x="1157509" y="8547"/>
                      <a:pt x="1172723" y="23761"/>
                    </a:cubicBezTo>
                    <a:cubicBezTo>
                      <a:pt x="1187937" y="38975"/>
                      <a:pt x="1196484" y="59610"/>
                      <a:pt x="1196484" y="81126"/>
                    </a:cubicBezTo>
                    <a:lnTo>
                      <a:pt x="1196484" y="405398"/>
                    </a:lnTo>
                    <a:cubicBezTo>
                      <a:pt x="1196484" y="450203"/>
                      <a:pt x="1160163" y="486524"/>
                      <a:pt x="1115359" y="486524"/>
                    </a:cubicBezTo>
                    <a:lnTo>
                      <a:pt x="81126" y="486524"/>
                    </a:lnTo>
                    <a:cubicBezTo>
                      <a:pt x="36321" y="486524"/>
                      <a:pt x="0" y="450203"/>
                      <a:pt x="0" y="405398"/>
                    </a:cubicBezTo>
                    <a:lnTo>
                      <a:pt x="0" y="81126"/>
                    </a:lnTo>
                    <a:cubicBezTo>
                      <a:pt x="0" y="36321"/>
                      <a:pt x="36321" y="0"/>
                      <a:pt x="81126" y="0"/>
                    </a:cubicBezTo>
                    <a:close/>
                  </a:path>
                </a:pathLst>
              </a:custGeom>
              <a:ln w="57150" cap="rnd">
                <a:solidFill>
                  <a:srgbClr val="CAE8FF"/>
                </a:solidFill>
                <a:prstDash val="solid"/>
                <a:round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1196484" cy="5055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341718" y="606012"/>
              <a:ext cx="3388292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Held-out Test Set</a:t>
              </a:r>
            </a:p>
          </p:txBody>
        </p:sp>
      </p:grpSp>
      <p:sp>
        <p:nvSpPr>
          <p:cNvPr name="Freeform 26" id="26"/>
          <p:cNvSpPr/>
          <p:nvPr/>
        </p:nvSpPr>
        <p:spPr>
          <a:xfrm>
            <a:off x="10215362" y="4510058"/>
            <a:ext cx="1892238" cy="809419"/>
          </a:xfrm>
          <a:custGeom>
            <a:avLst/>
            <a:gdLst/>
            <a:ahLst/>
            <a:cxnLst/>
            <a:rect r="r" b="b" t="t" l="l"/>
            <a:pathLst>
              <a:path h="809419" w="1892238">
                <a:moveTo>
                  <a:pt x="0" y="0"/>
                </a:moveTo>
                <a:lnTo>
                  <a:pt x="717519" y="0"/>
                </a:lnTo>
                <a:cubicBezTo>
                  <a:pt x="778148" y="0"/>
                  <a:pt x="836293" y="24084"/>
                  <a:pt x="879163" y="66955"/>
                </a:cubicBezTo>
                <a:cubicBezTo>
                  <a:pt x="922034" y="109826"/>
                  <a:pt x="946119" y="167971"/>
                  <a:pt x="946119" y="228600"/>
                </a:cubicBezTo>
                <a:lnTo>
                  <a:pt x="946119" y="580818"/>
                </a:lnTo>
                <a:cubicBezTo>
                  <a:pt x="946119" y="707071"/>
                  <a:pt x="1048467" y="809418"/>
                  <a:pt x="1174719" y="809418"/>
                </a:cubicBezTo>
                <a:lnTo>
                  <a:pt x="1892238" y="809418"/>
                </a:lnTo>
              </a:path>
            </a:pathLst>
          </a:cu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7" id="27"/>
          <p:cNvGrpSpPr/>
          <p:nvPr/>
        </p:nvGrpSpPr>
        <p:grpSpPr>
          <a:xfrm rot="0">
            <a:off x="3126604" y="6407081"/>
            <a:ext cx="12034792" cy="1440984"/>
            <a:chOff x="0" y="0"/>
            <a:chExt cx="4715259" cy="56458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15259" cy="564581"/>
            </a:xfrm>
            <a:custGeom>
              <a:avLst/>
              <a:gdLst/>
              <a:ahLst/>
              <a:cxnLst/>
              <a:rect r="r" b="b" t="t" l="l"/>
              <a:pathLst>
                <a:path h="564581" w="4715259">
                  <a:moveTo>
                    <a:pt x="11579" y="0"/>
                  </a:moveTo>
                  <a:lnTo>
                    <a:pt x="4703680" y="0"/>
                  </a:lnTo>
                  <a:cubicBezTo>
                    <a:pt x="4710075" y="0"/>
                    <a:pt x="4715259" y="5184"/>
                    <a:pt x="4715259" y="11579"/>
                  </a:cubicBezTo>
                  <a:lnTo>
                    <a:pt x="4715259" y="553001"/>
                  </a:lnTo>
                  <a:cubicBezTo>
                    <a:pt x="4715259" y="556072"/>
                    <a:pt x="4714039" y="559018"/>
                    <a:pt x="4711867" y="561189"/>
                  </a:cubicBezTo>
                  <a:cubicBezTo>
                    <a:pt x="4709696" y="563361"/>
                    <a:pt x="4706751" y="564581"/>
                    <a:pt x="4703680" y="564581"/>
                  </a:cubicBezTo>
                  <a:lnTo>
                    <a:pt x="11579" y="564581"/>
                  </a:lnTo>
                  <a:cubicBezTo>
                    <a:pt x="5184" y="564581"/>
                    <a:pt x="0" y="559396"/>
                    <a:pt x="0" y="553001"/>
                  </a:cubicBezTo>
                  <a:lnTo>
                    <a:pt x="0" y="11579"/>
                  </a:lnTo>
                  <a:cubicBezTo>
                    <a:pt x="0" y="5184"/>
                    <a:pt x="5184" y="0"/>
                    <a:pt x="11579" y="0"/>
                  </a:cubicBezTo>
                  <a:close/>
                </a:path>
              </a:pathLst>
            </a:custGeom>
            <a:ln w="76200" cap="sq">
              <a:solidFill>
                <a:srgbClr val="121481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15259" cy="5836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3649656" y="6655817"/>
            <a:ext cx="797267" cy="943511"/>
          </a:xfrm>
          <a:custGeom>
            <a:avLst/>
            <a:gdLst/>
            <a:ahLst/>
            <a:cxnLst/>
            <a:rect r="r" b="b" t="t" l="l"/>
            <a:pathLst>
              <a:path h="943511" w="797267">
                <a:moveTo>
                  <a:pt x="0" y="0"/>
                </a:moveTo>
                <a:lnTo>
                  <a:pt x="797266" y="0"/>
                </a:lnTo>
                <a:lnTo>
                  <a:pt x="797266" y="943511"/>
                </a:lnTo>
                <a:lnTo>
                  <a:pt x="0" y="943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3126604" y="8195205"/>
            <a:ext cx="12034792" cy="1231461"/>
            <a:chOff x="0" y="0"/>
            <a:chExt cx="4715259" cy="4824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15259" cy="482489"/>
            </a:xfrm>
            <a:custGeom>
              <a:avLst/>
              <a:gdLst/>
              <a:ahLst/>
              <a:cxnLst/>
              <a:rect r="r" b="b" t="t" l="l"/>
              <a:pathLst>
                <a:path h="482489" w="4715259">
                  <a:moveTo>
                    <a:pt x="11579" y="0"/>
                  </a:moveTo>
                  <a:lnTo>
                    <a:pt x="4703680" y="0"/>
                  </a:lnTo>
                  <a:cubicBezTo>
                    <a:pt x="4710075" y="0"/>
                    <a:pt x="4715259" y="5184"/>
                    <a:pt x="4715259" y="11579"/>
                  </a:cubicBezTo>
                  <a:lnTo>
                    <a:pt x="4715259" y="470910"/>
                  </a:lnTo>
                  <a:cubicBezTo>
                    <a:pt x="4715259" y="473981"/>
                    <a:pt x="4714039" y="476926"/>
                    <a:pt x="4711867" y="479098"/>
                  </a:cubicBezTo>
                  <a:cubicBezTo>
                    <a:pt x="4709696" y="481269"/>
                    <a:pt x="4706751" y="482489"/>
                    <a:pt x="4703680" y="482489"/>
                  </a:cubicBezTo>
                  <a:lnTo>
                    <a:pt x="11579" y="482489"/>
                  </a:lnTo>
                  <a:cubicBezTo>
                    <a:pt x="5184" y="482489"/>
                    <a:pt x="0" y="477305"/>
                    <a:pt x="0" y="470910"/>
                  </a:cubicBezTo>
                  <a:lnTo>
                    <a:pt x="0" y="11579"/>
                  </a:lnTo>
                  <a:cubicBezTo>
                    <a:pt x="0" y="5184"/>
                    <a:pt x="5184" y="0"/>
                    <a:pt x="11579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715259" cy="50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3683282" y="8391387"/>
            <a:ext cx="730014" cy="839096"/>
          </a:xfrm>
          <a:custGeom>
            <a:avLst/>
            <a:gdLst/>
            <a:ahLst/>
            <a:cxnLst/>
            <a:rect r="r" b="b" t="t" l="l"/>
            <a:pathLst>
              <a:path h="839096" w="730014">
                <a:moveTo>
                  <a:pt x="0" y="0"/>
                </a:moveTo>
                <a:lnTo>
                  <a:pt x="730014" y="0"/>
                </a:lnTo>
                <a:lnTo>
                  <a:pt x="730014" y="839097"/>
                </a:lnTo>
                <a:lnTo>
                  <a:pt x="0" y="839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1: Siapkan Dataset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Format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data sebelum digunakan untuk instruction fine-tuning.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49656" y="5039647"/>
            <a:ext cx="2028642" cy="35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AMAL Dataset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341799" y="3605961"/>
            <a:ext cx="2672380" cy="181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Instruction Format:</a:t>
            </a:r>
          </a:p>
          <a:p>
            <a:pPr algn="l" marL="561345" indent="-280673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Instruction</a:t>
            </a:r>
          </a:p>
          <a:p>
            <a:pPr algn="l" marL="561345" indent="-280673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Input</a:t>
            </a:r>
          </a:p>
          <a:p>
            <a:pPr algn="l" marL="561345" indent="-280673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Output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773941" y="6604523"/>
            <a:ext cx="3380570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Catatan Penting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773941" y="7008002"/>
            <a:ext cx="8860557" cy="62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4" indent="-215902" lvl="1">
              <a:lnSpc>
                <a:spcPts val="2440"/>
              </a:lnSpc>
              <a:buFont typeface="Arial"/>
              <a:buChar char="•"/>
            </a:pPr>
            <a:r>
              <a:rPr lang="en-US" sz="20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Held-out test set dipisahkan SEBELUM training.</a:t>
            </a:r>
          </a:p>
          <a:p>
            <a:pPr algn="l" marL="431804" indent="-215902" lvl="1">
              <a:lnSpc>
                <a:spcPts val="2440"/>
              </a:lnSpc>
              <a:buFont typeface="Arial"/>
              <a:buChar char="•"/>
            </a:pPr>
            <a:r>
              <a:rPr lang="en-US" sz="20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Split dilakukan per malware family (stratified), bukan random row split.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773941" y="8392647"/>
            <a:ext cx="3380570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Hasil: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773941" y="8796126"/>
            <a:ext cx="8860557" cy="31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4" indent="-215902" lvl="1">
              <a:lnSpc>
                <a:spcPts val="2440"/>
              </a:lnSpc>
              <a:buFont typeface="Arial"/>
              <a:buChar char="•"/>
            </a:pPr>
            <a:r>
              <a:rPr lang="en-US" sz="20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 siap digunakan untuk training dan evaluasi.</a:t>
            </a:r>
          </a:p>
        </p:txBody>
      </p:sp>
    </p:spTree>
  </p:cSld>
  <p:clrMapOvr>
    <a:masterClrMapping/>
  </p:clrMapOvr>
  <p:transition spd="med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329240" y="786331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5215" y="562938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950948" y="9090986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259300" y="89042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2"/>
                </a:lnTo>
                <a:lnTo>
                  <a:pt x="0" y="7081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327468" y="1957898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7259300" y="2233276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2"/>
                </a:lnTo>
                <a:lnTo>
                  <a:pt x="5780663" y="708132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ah 2: Atur Konfigurasi LoRA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entukan parameter yang akan digunakan sebelum menjalankan eksperimen.</a:t>
            </a:r>
          </a:p>
        </p:txBody>
      </p: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1085267" y="2962289"/>
          <a:ext cx="7296376" cy="4467284"/>
        </p:xfrm>
        <a:graphic>
          <a:graphicData uri="http://schemas.openxmlformats.org/drawingml/2006/table">
            <a:tbl>
              <a:tblPr/>
              <a:tblGrid>
                <a:gridCol w="2963003"/>
                <a:gridCol w="4333373"/>
              </a:tblGrid>
              <a:tr h="7356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4F7F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Parameter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A3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F4F7FB"/>
                          </a:solidFill>
                          <a:latin typeface="Glacial Indifference Bold"/>
                          <a:ea typeface="Glacial Indifference Bold"/>
                          <a:cs typeface="Glacial Indifference Bold"/>
                          <a:sym typeface="Glacial Indifference Bold"/>
                        </a:rPr>
                        <a:t>Nilai (Baseline Lab)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A30"/>
                    </a:solidFill>
                  </a:tcPr>
                </a:tc>
              </a:tr>
              <a:tr h="7356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Base Model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Qwen2.5-Coder-1.5B-Instruct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</a:tr>
              <a:tr h="7356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Rank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r = 16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</a:tr>
              <a:tr h="78902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Alpha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α = 32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</a:tr>
              <a:tr h="7356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Target modules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q_proj, v_proj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</a:tr>
              <a:tr h="7356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Learning rate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8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Glacial Indifference"/>
                          <a:ea typeface="Glacial Indifference"/>
                          <a:cs typeface="Glacial Indifference"/>
                          <a:sym typeface="Glacial Indifference"/>
                        </a:rPr>
                        <a:t>2e-4</a:t>
                      </a:r>
                      <a:endParaRPr lang="en-US" sz="1100"/>
                    </a:p>
                  </a:txBody>
                  <a:tcPr marL="114300" marR="114300" marT="114300" marB="1143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FF"/>
                    </a:solidFill>
                  </a:tcPr>
                </a:tc>
              </a:tr>
            </a:tbl>
          </a:graphicData>
        </a:graphic>
      </p:graphicFrame>
      <p:grpSp>
        <p:nvGrpSpPr>
          <p:cNvPr name="Group 11" id="11"/>
          <p:cNvGrpSpPr/>
          <p:nvPr/>
        </p:nvGrpSpPr>
        <p:grpSpPr>
          <a:xfrm rot="0">
            <a:off x="1028700" y="7877248"/>
            <a:ext cx="6895540" cy="1231461"/>
            <a:chOff x="0" y="0"/>
            <a:chExt cx="2701688" cy="4824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01688" cy="482489"/>
            </a:xfrm>
            <a:custGeom>
              <a:avLst/>
              <a:gdLst/>
              <a:ahLst/>
              <a:cxnLst/>
              <a:rect r="r" b="b" t="t" l="l"/>
              <a:pathLst>
                <a:path h="482489" w="2701688">
                  <a:moveTo>
                    <a:pt x="20209" y="0"/>
                  </a:moveTo>
                  <a:lnTo>
                    <a:pt x="2681479" y="0"/>
                  </a:lnTo>
                  <a:cubicBezTo>
                    <a:pt x="2686839" y="0"/>
                    <a:pt x="2691979" y="2129"/>
                    <a:pt x="2695769" y="5919"/>
                  </a:cubicBezTo>
                  <a:cubicBezTo>
                    <a:pt x="2699559" y="9709"/>
                    <a:pt x="2701688" y="14850"/>
                    <a:pt x="2701688" y="20209"/>
                  </a:cubicBezTo>
                  <a:lnTo>
                    <a:pt x="2701688" y="462280"/>
                  </a:lnTo>
                  <a:cubicBezTo>
                    <a:pt x="2701688" y="467640"/>
                    <a:pt x="2699559" y="472780"/>
                    <a:pt x="2695769" y="476570"/>
                  </a:cubicBezTo>
                  <a:cubicBezTo>
                    <a:pt x="2691979" y="480360"/>
                    <a:pt x="2686839" y="482489"/>
                    <a:pt x="2681479" y="482489"/>
                  </a:cubicBezTo>
                  <a:lnTo>
                    <a:pt x="20209" y="482489"/>
                  </a:lnTo>
                  <a:cubicBezTo>
                    <a:pt x="9048" y="482489"/>
                    <a:pt x="0" y="473441"/>
                    <a:pt x="0" y="462280"/>
                  </a:cubicBezTo>
                  <a:lnTo>
                    <a:pt x="0" y="20209"/>
                  </a:lnTo>
                  <a:cubicBezTo>
                    <a:pt x="0" y="14850"/>
                    <a:pt x="2129" y="9709"/>
                    <a:pt x="5919" y="5919"/>
                  </a:cubicBezTo>
                  <a:cubicBezTo>
                    <a:pt x="9709" y="2129"/>
                    <a:pt x="14850" y="0"/>
                    <a:pt x="20209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701688" cy="50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266181" y="8073431"/>
            <a:ext cx="730014" cy="839096"/>
          </a:xfrm>
          <a:custGeom>
            <a:avLst/>
            <a:gdLst/>
            <a:ahLst/>
            <a:cxnLst/>
            <a:rect r="r" b="b" t="t" l="l"/>
            <a:pathLst>
              <a:path h="839096" w="730014">
                <a:moveTo>
                  <a:pt x="0" y="0"/>
                </a:moveTo>
                <a:lnTo>
                  <a:pt x="730014" y="0"/>
                </a:lnTo>
                <a:lnTo>
                  <a:pt x="730014" y="839096"/>
                </a:lnTo>
                <a:lnTo>
                  <a:pt x="0" y="839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42507" y="8122329"/>
            <a:ext cx="2054738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238883" y="8525808"/>
            <a:ext cx="5366029" cy="31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4" indent="-215902" lvl="1">
              <a:lnSpc>
                <a:spcPts val="2440"/>
              </a:lnSpc>
              <a:buFont typeface="Arial"/>
              <a:buChar char="•"/>
            </a:pPr>
            <a:r>
              <a:rPr lang="en-US" sz="20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Satu konfigurasi eksperimen siap dijalankan.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0" y="2962289"/>
            <a:ext cx="7517200" cy="4706826"/>
            <a:chOff x="0" y="0"/>
            <a:chExt cx="2945256" cy="18441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45256" cy="1844145"/>
            </a:xfrm>
            <a:custGeom>
              <a:avLst/>
              <a:gdLst/>
              <a:ahLst/>
              <a:cxnLst/>
              <a:rect r="r" b="b" t="t" l="l"/>
              <a:pathLst>
                <a:path h="1844145" w="2945256">
                  <a:moveTo>
                    <a:pt x="32957" y="0"/>
                  </a:moveTo>
                  <a:lnTo>
                    <a:pt x="2912300" y="0"/>
                  </a:lnTo>
                  <a:cubicBezTo>
                    <a:pt x="2921040" y="0"/>
                    <a:pt x="2929423" y="3472"/>
                    <a:pt x="2935603" y="9653"/>
                  </a:cubicBezTo>
                  <a:cubicBezTo>
                    <a:pt x="2941784" y="15833"/>
                    <a:pt x="2945256" y="24216"/>
                    <a:pt x="2945256" y="32957"/>
                  </a:cubicBezTo>
                  <a:lnTo>
                    <a:pt x="2945256" y="1811189"/>
                  </a:lnTo>
                  <a:cubicBezTo>
                    <a:pt x="2945256" y="1829390"/>
                    <a:pt x="2930501" y="1844145"/>
                    <a:pt x="2912300" y="1844145"/>
                  </a:cubicBezTo>
                  <a:lnTo>
                    <a:pt x="32957" y="1844145"/>
                  </a:lnTo>
                  <a:cubicBezTo>
                    <a:pt x="14755" y="1844145"/>
                    <a:pt x="0" y="1829390"/>
                    <a:pt x="0" y="1811189"/>
                  </a:cubicBezTo>
                  <a:lnTo>
                    <a:pt x="0" y="32957"/>
                  </a:lnTo>
                  <a:cubicBezTo>
                    <a:pt x="0" y="14755"/>
                    <a:pt x="14755" y="0"/>
                    <a:pt x="32957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945256" cy="1863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501201" y="3400892"/>
            <a:ext cx="2816239" cy="507997"/>
            <a:chOff x="0" y="0"/>
            <a:chExt cx="3754986" cy="677329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754986" cy="677329"/>
              <a:chOff x="0" y="0"/>
              <a:chExt cx="3754986" cy="67732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754936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3754936">
                    <a:moveTo>
                      <a:pt x="0" y="93785"/>
                    </a:moveTo>
                    <a:cubicBezTo>
                      <a:pt x="0" y="42047"/>
                      <a:pt x="33491" y="0"/>
                      <a:pt x="74700" y="0"/>
                    </a:cubicBezTo>
                    <a:lnTo>
                      <a:pt x="3680235" y="0"/>
                    </a:lnTo>
                    <a:cubicBezTo>
                      <a:pt x="3721445" y="0"/>
                      <a:pt x="3754936" y="42047"/>
                      <a:pt x="3754936" y="93785"/>
                    </a:cubicBezTo>
                    <a:lnTo>
                      <a:pt x="3754936" y="583497"/>
                    </a:lnTo>
                    <a:cubicBezTo>
                      <a:pt x="3754936" y="635235"/>
                      <a:pt x="3721445" y="677282"/>
                      <a:pt x="3680235" y="677282"/>
                    </a:cubicBezTo>
                    <a:lnTo>
                      <a:pt x="74700" y="677282"/>
                    </a:lnTo>
                    <a:cubicBezTo>
                      <a:pt x="33491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579AD1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74073" y="87840"/>
              <a:ext cx="3406840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Yang diatur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638188" y="4731849"/>
            <a:ext cx="2816239" cy="67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Menentukan kapas</a:t>
            </a: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itas adapter.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38188" y="4366089"/>
            <a:ext cx="2816239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</a:t>
            </a:r>
            <a:r>
              <a:rPr lang="en-US" b="true" sz="2400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ank — 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38188" y="6226450"/>
            <a:ext cx="2816239" cy="67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Menentukan sc</a:t>
            </a: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aling LoRA.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38188" y="5860690"/>
            <a:ext cx="2816239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Alph</a:t>
            </a:r>
            <a:r>
              <a:rPr lang="en-US" b="true" sz="2400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 — α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82850" y="4731849"/>
            <a:ext cx="3284161" cy="67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Menentukan bagian model y</a:t>
            </a: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ang akan disesuaikan.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82850" y="4366089"/>
            <a:ext cx="2816239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</a:t>
            </a:r>
            <a:r>
              <a:rPr lang="en-US" b="true" sz="2400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arget Modules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82850" y="6226450"/>
            <a:ext cx="3284161" cy="1004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Menentukan besar pembaru</a:t>
            </a: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 parameter selama training.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82850" y="5860690"/>
            <a:ext cx="2816239" cy="33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</a:t>
            </a:r>
            <a:r>
              <a:rPr lang="en-US" b="true" sz="2400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arning Rate</a:t>
            </a:r>
          </a:p>
        </p:txBody>
      </p:sp>
    </p:spTree>
  </p:cSld>
  <p:clrMapOvr>
    <a:masterClrMapping/>
  </p:clrMapOvr>
  <p:transition spd="med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70165" y="158231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397669" y="1855063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2" y="0"/>
                </a:moveTo>
                <a:lnTo>
                  <a:pt x="0" y="0"/>
                </a:lnTo>
                <a:lnTo>
                  <a:pt x="0" y="708131"/>
                </a:lnTo>
                <a:lnTo>
                  <a:pt x="5780662" y="708131"/>
                </a:lnTo>
                <a:lnTo>
                  <a:pt x="57806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197880" y="360076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90331" y="714142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2" y="0"/>
                </a:lnTo>
                <a:lnTo>
                  <a:pt x="5780662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4130960" y="5329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90331" y="2888898"/>
            <a:ext cx="3794197" cy="778297"/>
            <a:chOff x="0" y="0"/>
            <a:chExt cx="1486575" cy="3049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86575" cy="304939"/>
            </a:xfrm>
            <a:custGeom>
              <a:avLst/>
              <a:gdLst/>
              <a:ahLst/>
              <a:cxnLst/>
              <a:rect r="r" b="b" t="t" l="l"/>
              <a:pathLst>
                <a:path h="304939" w="1486575">
                  <a:moveTo>
                    <a:pt x="65295" y="0"/>
                  </a:moveTo>
                  <a:lnTo>
                    <a:pt x="1421280" y="0"/>
                  </a:lnTo>
                  <a:cubicBezTo>
                    <a:pt x="1457342" y="0"/>
                    <a:pt x="1486575" y="29233"/>
                    <a:pt x="1486575" y="65295"/>
                  </a:cubicBezTo>
                  <a:lnTo>
                    <a:pt x="1486575" y="239644"/>
                  </a:lnTo>
                  <a:cubicBezTo>
                    <a:pt x="1486575" y="275705"/>
                    <a:pt x="1457342" y="304939"/>
                    <a:pt x="1421280" y="304939"/>
                  </a:cubicBezTo>
                  <a:lnTo>
                    <a:pt x="65295" y="304939"/>
                  </a:lnTo>
                  <a:cubicBezTo>
                    <a:pt x="29233" y="304939"/>
                    <a:pt x="0" y="275705"/>
                    <a:pt x="0" y="239644"/>
                  </a:cubicBezTo>
                  <a:lnTo>
                    <a:pt x="0" y="65295"/>
                  </a:lnTo>
                  <a:cubicBezTo>
                    <a:pt x="0" y="29233"/>
                    <a:pt x="29233" y="0"/>
                    <a:pt x="65295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486575" cy="323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90331" y="3868805"/>
            <a:ext cx="3794197" cy="778297"/>
            <a:chOff x="0" y="0"/>
            <a:chExt cx="1486575" cy="3049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6575" cy="304939"/>
            </a:xfrm>
            <a:custGeom>
              <a:avLst/>
              <a:gdLst/>
              <a:ahLst/>
              <a:cxnLst/>
              <a:rect r="r" b="b" t="t" l="l"/>
              <a:pathLst>
                <a:path h="304939" w="1486575">
                  <a:moveTo>
                    <a:pt x="65295" y="0"/>
                  </a:moveTo>
                  <a:lnTo>
                    <a:pt x="1421280" y="0"/>
                  </a:lnTo>
                  <a:cubicBezTo>
                    <a:pt x="1457342" y="0"/>
                    <a:pt x="1486575" y="29233"/>
                    <a:pt x="1486575" y="65295"/>
                  </a:cubicBezTo>
                  <a:lnTo>
                    <a:pt x="1486575" y="239644"/>
                  </a:lnTo>
                  <a:cubicBezTo>
                    <a:pt x="1486575" y="275705"/>
                    <a:pt x="1457342" y="304939"/>
                    <a:pt x="1421280" y="304939"/>
                  </a:cubicBezTo>
                  <a:lnTo>
                    <a:pt x="65295" y="304939"/>
                  </a:lnTo>
                  <a:cubicBezTo>
                    <a:pt x="29233" y="304939"/>
                    <a:pt x="0" y="275705"/>
                    <a:pt x="0" y="239644"/>
                  </a:cubicBezTo>
                  <a:lnTo>
                    <a:pt x="0" y="65295"/>
                  </a:lnTo>
                  <a:cubicBezTo>
                    <a:pt x="0" y="29233"/>
                    <a:pt x="29233" y="0"/>
                    <a:pt x="65295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486575" cy="323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90331" y="4847127"/>
            <a:ext cx="3794197" cy="778297"/>
            <a:chOff x="0" y="0"/>
            <a:chExt cx="1486575" cy="30493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86575" cy="304939"/>
            </a:xfrm>
            <a:custGeom>
              <a:avLst/>
              <a:gdLst/>
              <a:ahLst/>
              <a:cxnLst/>
              <a:rect r="r" b="b" t="t" l="l"/>
              <a:pathLst>
                <a:path h="304939" w="1486575">
                  <a:moveTo>
                    <a:pt x="65295" y="0"/>
                  </a:moveTo>
                  <a:lnTo>
                    <a:pt x="1421280" y="0"/>
                  </a:lnTo>
                  <a:cubicBezTo>
                    <a:pt x="1457342" y="0"/>
                    <a:pt x="1486575" y="29233"/>
                    <a:pt x="1486575" y="65295"/>
                  </a:cubicBezTo>
                  <a:lnTo>
                    <a:pt x="1486575" y="239644"/>
                  </a:lnTo>
                  <a:cubicBezTo>
                    <a:pt x="1486575" y="275705"/>
                    <a:pt x="1457342" y="304939"/>
                    <a:pt x="1421280" y="304939"/>
                  </a:cubicBezTo>
                  <a:lnTo>
                    <a:pt x="65295" y="304939"/>
                  </a:lnTo>
                  <a:cubicBezTo>
                    <a:pt x="29233" y="304939"/>
                    <a:pt x="0" y="275705"/>
                    <a:pt x="0" y="239644"/>
                  </a:cubicBezTo>
                  <a:lnTo>
                    <a:pt x="0" y="65295"/>
                  </a:lnTo>
                  <a:cubicBezTo>
                    <a:pt x="0" y="29233"/>
                    <a:pt x="29233" y="0"/>
                    <a:pt x="65295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86575" cy="3239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818580" y="2888898"/>
            <a:ext cx="3074745" cy="2736525"/>
            <a:chOff x="0" y="0"/>
            <a:chExt cx="1204692" cy="10721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04692" cy="1072177"/>
            </a:xfrm>
            <a:custGeom>
              <a:avLst/>
              <a:gdLst/>
              <a:ahLst/>
              <a:cxnLst/>
              <a:rect r="r" b="b" t="t" l="l"/>
              <a:pathLst>
                <a:path h="1072177" w="1204692">
                  <a:moveTo>
                    <a:pt x="80573" y="0"/>
                  </a:moveTo>
                  <a:lnTo>
                    <a:pt x="1124119" y="0"/>
                  </a:lnTo>
                  <a:cubicBezTo>
                    <a:pt x="1145488" y="0"/>
                    <a:pt x="1165983" y="8489"/>
                    <a:pt x="1181093" y="23599"/>
                  </a:cubicBezTo>
                  <a:cubicBezTo>
                    <a:pt x="1196203" y="38710"/>
                    <a:pt x="1204692" y="59204"/>
                    <a:pt x="1204692" y="80573"/>
                  </a:cubicBezTo>
                  <a:lnTo>
                    <a:pt x="1204692" y="991604"/>
                  </a:lnTo>
                  <a:cubicBezTo>
                    <a:pt x="1204692" y="1012973"/>
                    <a:pt x="1196203" y="1033467"/>
                    <a:pt x="1181093" y="1048578"/>
                  </a:cubicBezTo>
                  <a:cubicBezTo>
                    <a:pt x="1165983" y="1063688"/>
                    <a:pt x="1145488" y="1072177"/>
                    <a:pt x="1124119" y="1072177"/>
                  </a:cubicBezTo>
                  <a:lnTo>
                    <a:pt x="80573" y="1072177"/>
                  </a:lnTo>
                  <a:cubicBezTo>
                    <a:pt x="59204" y="1072177"/>
                    <a:pt x="38710" y="1063688"/>
                    <a:pt x="23599" y="1048578"/>
                  </a:cubicBezTo>
                  <a:cubicBezTo>
                    <a:pt x="8489" y="1033467"/>
                    <a:pt x="0" y="1012973"/>
                    <a:pt x="0" y="991604"/>
                  </a:cubicBezTo>
                  <a:lnTo>
                    <a:pt x="0" y="80573"/>
                  </a:lnTo>
                  <a:cubicBezTo>
                    <a:pt x="0" y="59204"/>
                    <a:pt x="8489" y="38710"/>
                    <a:pt x="23599" y="23599"/>
                  </a:cubicBezTo>
                  <a:cubicBezTo>
                    <a:pt x="38710" y="8489"/>
                    <a:pt x="59204" y="0"/>
                    <a:pt x="80573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04692" cy="1091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591361" y="3307347"/>
            <a:ext cx="1529182" cy="1452723"/>
          </a:xfrm>
          <a:custGeom>
            <a:avLst/>
            <a:gdLst/>
            <a:ahLst/>
            <a:cxnLst/>
            <a:rect r="r" b="b" t="t" l="l"/>
            <a:pathLst>
              <a:path h="1452723" w="1529182">
                <a:moveTo>
                  <a:pt x="0" y="0"/>
                </a:moveTo>
                <a:lnTo>
                  <a:pt x="1529183" y="0"/>
                </a:lnTo>
                <a:lnTo>
                  <a:pt x="1529183" y="1452723"/>
                </a:lnTo>
                <a:lnTo>
                  <a:pt x="0" y="14527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301967" y="2888898"/>
            <a:ext cx="3074745" cy="2736525"/>
            <a:chOff x="0" y="0"/>
            <a:chExt cx="1204692" cy="107217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4692" cy="1072177"/>
            </a:xfrm>
            <a:custGeom>
              <a:avLst/>
              <a:gdLst/>
              <a:ahLst/>
              <a:cxnLst/>
              <a:rect r="r" b="b" t="t" l="l"/>
              <a:pathLst>
                <a:path h="1072177" w="1204692">
                  <a:moveTo>
                    <a:pt x="80573" y="0"/>
                  </a:moveTo>
                  <a:lnTo>
                    <a:pt x="1124119" y="0"/>
                  </a:lnTo>
                  <a:cubicBezTo>
                    <a:pt x="1145488" y="0"/>
                    <a:pt x="1165983" y="8489"/>
                    <a:pt x="1181093" y="23599"/>
                  </a:cubicBezTo>
                  <a:cubicBezTo>
                    <a:pt x="1196203" y="38710"/>
                    <a:pt x="1204692" y="59204"/>
                    <a:pt x="1204692" y="80573"/>
                  </a:cubicBezTo>
                  <a:lnTo>
                    <a:pt x="1204692" y="991604"/>
                  </a:lnTo>
                  <a:cubicBezTo>
                    <a:pt x="1204692" y="1012973"/>
                    <a:pt x="1196203" y="1033467"/>
                    <a:pt x="1181093" y="1048578"/>
                  </a:cubicBezTo>
                  <a:cubicBezTo>
                    <a:pt x="1165983" y="1063688"/>
                    <a:pt x="1145488" y="1072177"/>
                    <a:pt x="1124119" y="1072177"/>
                  </a:cubicBezTo>
                  <a:lnTo>
                    <a:pt x="80573" y="1072177"/>
                  </a:lnTo>
                  <a:cubicBezTo>
                    <a:pt x="59204" y="1072177"/>
                    <a:pt x="38710" y="1063688"/>
                    <a:pt x="23599" y="1048578"/>
                  </a:cubicBezTo>
                  <a:cubicBezTo>
                    <a:pt x="8489" y="1033467"/>
                    <a:pt x="0" y="1012973"/>
                    <a:pt x="0" y="991604"/>
                  </a:cubicBezTo>
                  <a:lnTo>
                    <a:pt x="0" y="80573"/>
                  </a:lnTo>
                  <a:cubicBezTo>
                    <a:pt x="0" y="59204"/>
                    <a:pt x="8489" y="38710"/>
                    <a:pt x="23599" y="23599"/>
                  </a:cubicBezTo>
                  <a:cubicBezTo>
                    <a:pt x="38710" y="8489"/>
                    <a:pt x="59204" y="0"/>
                    <a:pt x="80573" y="0"/>
                  </a:cubicBezTo>
                  <a:close/>
                </a:path>
              </a:pathLst>
            </a:custGeom>
            <a:ln w="57150" cap="rnd">
              <a:solidFill>
                <a:srgbClr val="CAE8FF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204692" cy="1091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>
            <a:off x="6684528" y="3278047"/>
            <a:ext cx="1134052" cy="979114"/>
          </a:xfrm>
          <a:custGeom>
            <a:avLst/>
            <a:gdLst/>
            <a:ahLst/>
            <a:cxnLst/>
            <a:rect r="r" b="b" t="t" l="l"/>
            <a:pathLst>
              <a:path h="979114" w="1134052">
                <a:moveTo>
                  <a:pt x="0" y="0"/>
                </a:moveTo>
                <a:lnTo>
                  <a:pt x="338426" y="0"/>
                </a:lnTo>
                <a:cubicBezTo>
                  <a:pt x="399055" y="0"/>
                  <a:pt x="457200" y="24084"/>
                  <a:pt x="500071" y="66955"/>
                </a:cubicBezTo>
                <a:cubicBezTo>
                  <a:pt x="542942" y="109826"/>
                  <a:pt x="567026" y="167971"/>
                  <a:pt x="567026" y="228600"/>
                </a:cubicBezTo>
                <a:lnTo>
                  <a:pt x="567026" y="750514"/>
                </a:lnTo>
                <a:cubicBezTo>
                  <a:pt x="567026" y="876766"/>
                  <a:pt x="669374" y="979114"/>
                  <a:pt x="795626" y="979114"/>
                </a:cubicBezTo>
                <a:lnTo>
                  <a:pt x="1134052" y="979114"/>
                </a:lnTo>
              </a:path>
            </a:pathLst>
          </a:cu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4" id="24"/>
          <p:cNvSpPr/>
          <p:nvPr/>
        </p:nvSpPr>
        <p:spPr>
          <a:xfrm>
            <a:off x="6684528" y="4257161"/>
            <a:ext cx="1134052" cy="792"/>
          </a:xfrm>
          <a:custGeom>
            <a:avLst/>
            <a:gdLst/>
            <a:ahLst/>
            <a:cxnLst/>
            <a:rect r="r" b="b" t="t" l="l"/>
            <a:pathLst>
              <a:path h="792" w="1134052">
                <a:moveTo>
                  <a:pt x="0" y="792"/>
                </a:moveTo>
                <a:lnTo>
                  <a:pt x="566630" y="792"/>
                </a:lnTo>
                <a:cubicBezTo>
                  <a:pt x="566736" y="792"/>
                  <a:pt x="566836" y="750"/>
                  <a:pt x="566910" y="676"/>
                </a:cubicBezTo>
                <a:cubicBezTo>
                  <a:pt x="566984" y="602"/>
                  <a:pt x="567026" y="501"/>
                  <a:pt x="567026" y="396"/>
                </a:cubicBezTo>
                <a:lnTo>
                  <a:pt x="567026" y="396"/>
                </a:lnTo>
                <a:cubicBezTo>
                  <a:pt x="567026" y="291"/>
                  <a:pt x="567068" y="190"/>
                  <a:pt x="567143" y="116"/>
                </a:cubicBezTo>
                <a:cubicBezTo>
                  <a:pt x="567217" y="42"/>
                  <a:pt x="567317" y="0"/>
                  <a:pt x="567422" y="0"/>
                </a:cubicBezTo>
                <a:lnTo>
                  <a:pt x="1134052" y="0"/>
                </a:lnTo>
              </a:path>
            </a:pathLst>
          </a:cu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5" id="25"/>
          <p:cNvSpPr/>
          <p:nvPr/>
        </p:nvSpPr>
        <p:spPr>
          <a:xfrm>
            <a:off x="6684528" y="4257161"/>
            <a:ext cx="1134052" cy="979114"/>
          </a:xfrm>
          <a:custGeom>
            <a:avLst/>
            <a:gdLst/>
            <a:ahLst/>
            <a:cxnLst/>
            <a:rect r="r" b="b" t="t" l="l"/>
            <a:pathLst>
              <a:path h="979114" w="1134052">
                <a:moveTo>
                  <a:pt x="0" y="979114"/>
                </a:moveTo>
                <a:lnTo>
                  <a:pt x="338426" y="979114"/>
                </a:lnTo>
                <a:cubicBezTo>
                  <a:pt x="399055" y="979114"/>
                  <a:pt x="457200" y="955030"/>
                  <a:pt x="500071" y="912159"/>
                </a:cubicBezTo>
                <a:cubicBezTo>
                  <a:pt x="542942" y="869288"/>
                  <a:pt x="567026" y="811143"/>
                  <a:pt x="567026" y="750514"/>
                </a:cubicBezTo>
                <a:lnTo>
                  <a:pt x="567026" y="228600"/>
                </a:lnTo>
                <a:cubicBezTo>
                  <a:pt x="567026" y="167972"/>
                  <a:pt x="591111" y="109826"/>
                  <a:pt x="633982" y="66955"/>
                </a:cubicBezTo>
                <a:cubicBezTo>
                  <a:pt x="676852" y="24085"/>
                  <a:pt x="734997" y="0"/>
                  <a:pt x="795626" y="0"/>
                </a:cubicBezTo>
                <a:lnTo>
                  <a:pt x="1134052" y="0"/>
                </a:lnTo>
              </a:path>
            </a:pathLst>
          </a:cu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6" id="26"/>
          <p:cNvSpPr/>
          <p:nvPr/>
        </p:nvSpPr>
        <p:spPr>
          <a:xfrm>
            <a:off x="11597646" y="4257161"/>
            <a:ext cx="704321" cy="0"/>
          </a:xfrm>
          <a:custGeom>
            <a:avLst/>
            <a:gdLst/>
            <a:ahLst/>
            <a:cxnLst/>
            <a:rect r="r" b="b" t="t" l="l"/>
            <a:pathLst>
              <a:path h="0" w="704321">
                <a:moveTo>
                  <a:pt x="0" y="0"/>
                </a:moveTo>
                <a:lnTo>
                  <a:pt x="704322" y="0"/>
                </a:lnTo>
              </a:path>
            </a:pathLst>
          </a:cu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12979066" y="3388502"/>
            <a:ext cx="1720549" cy="1290412"/>
          </a:xfrm>
          <a:custGeom>
            <a:avLst/>
            <a:gdLst/>
            <a:ahLst/>
            <a:cxnLst/>
            <a:rect r="r" b="b" t="t" l="l"/>
            <a:pathLst>
              <a:path h="1290412" w="1720549">
                <a:moveTo>
                  <a:pt x="0" y="0"/>
                </a:moveTo>
                <a:lnTo>
                  <a:pt x="1720548" y="0"/>
                </a:lnTo>
                <a:lnTo>
                  <a:pt x="1720548" y="1290412"/>
                </a:lnTo>
                <a:lnTo>
                  <a:pt x="0" y="12904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 3: Jalankan Fine-Tuning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Gunakan dataset dan ko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nfigurasi yang telah disiapkan untuk melatih LoRA adapter.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402909" y="3121201"/>
            <a:ext cx="2812595" cy="35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Base Model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402909" y="4101108"/>
            <a:ext cx="2812595" cy="35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LoRA Configuration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02909" y="5079430"/>
            <a:ext cx="2812595" cy="35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Dataset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41632" y="4855185"/>
            <a:ext cx="2028642" cy="35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Fine-Tuning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825019" y="4855185"/>
            <a:ext cx="2028642" cy="351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sz="26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LoRA Adapter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3010311" y="6415999"/>
            <a:ext cx="7243670" cy="2833203"/>
            <a:chOff x="0" y="0"/>
            <a:chExt cx="2838086" cy="111005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838086" cy="1110055"/>
            </a:xfrm>
            <a:custGeom>
              <a:avLst/>
              <a:gdLst/>
              <a:ahLst/>
              <a:cxnLst/>
              <a:rect r="r" b="b" t="t" l="l"/>
              <a:pathLst>
                <a:path h="1110055" w="2838086">
                  <a:moveTo>
                    <a:pt x="19238" y="0"/>
                  </a:moveTo>
                  <a:lnTo>
                    <a:pt x="2818848" y="0"/>
                  </a:lnTo>
                  <a:cubicBezTo>
                    <a:pt x="2829473" y="0"/>
                    <a:pt x="2838086" y="8613"/>
                    <a:pt x="2838086" y="19238"/>
                  </a:cubicBezTo>
                  <a:lnTo>
                    <a:pt x="2838086" y="1090817"/>
                  </a:lnTo>
                  <a:cubicBezTo>
                    <a:pt x="2838086" y="1101442"/>
                    <a:pt x="2829473" y="1110055"/>
                    <a:pt x="2818848" y="1110055"/>
                  </a:cubicBezTo>
                  <a:lnTo>
                    <a:pt x="19238" y="1110055"/>
                  </a:lnTo>
                  <a:cubicBezTo>
                    <a:pt x="8613" y="1110055"/>
                    <a:pt x="0" y="1101442"/>
                    <a:pt x="0" y="1090817"/>
                  </a:cubicBezTo>
                  <a:lnTo>
                    <a:pt x="0" y="19238"/>
                  </a:lnTo>
                  <a:cubicBezTo>
                    <a:pt x="0" y="8613"/>
                    <a:pt x="8613" y="0"/>
                    <a:pt x="19238" y="0"/>
                  </a:cubicBezTo>
                  <a:close/>
                </a:path>
              </a:pathLst>
            </a:custGeom>
            <a:ln w="76200" cap="sq">
              <a:solidFill>
                <a:srgbClr val="121481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838086" cy="11291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0">
            <a:off x="3396702" y="6665774"/>
            <a:ext cx="797267" cy="943511"/>
          </a:xfrm>
          <a:custGeom>
            <a:avLst/>
            <a:gdLst/>
            <a:ahLst/>
            <a:cxnLst/>
            <a:rect r="r" b="b" t="t" l="l"/>
            <a:pathLst>
              <a:path h="943511" w="797267">
                <a:moveTo>
                  <a:pt x="0" y="0"/>
                </a:moveTo>
                <a:lnTo>
                  <a:pt x="797267" y="0"/>
                </a:lnTo>
                <a:lnTo>
                  <a:pt x="797267" y="943511"/>
                </a:lnTo>
                <a:lnTo>
                  <a:pt x="0" y="9435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0777032" y="6420240"/>
            <a:ext cx="4924561" cy="1856227"/>
            <a:chOff x="0" y="0"/>
            <a:chExt cx="1929454" cy="72727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29455" cy="727274"/>
            </a:xfrm>
            <a:custGeom>
              <a:avLst/>
              <a:gdLst/>
              <a:ahLst/>
              <a:cxnLst/>
              <a:rect r="r" b="b" t="t" l="l"/>
              <a:pathLst>
                <a:path h="727274" w="1929455">
                  <a:moveTo>
                    <a:pt x="28298" y="0"/>
                  </a:moveTo>
                  <a:lnTo>
                    <a:pt x="1901157" y="0"/>
                  </a:lnTo>
                  <a:cubicBezTo>
                    <a:pt x="1916785" y="0"/>
                    <a:pt x="1929455" y="12669"/>
                    <a:pt x="1929455" y="28298"/>
                  </a:cubicBezTo>
                  <a:lnTo>
                    <a:pt x="1929455" y="698976"/>
                  </a:lnTo>
                  <a:cubicBezTo>
                    <a:pt x="1929455" y="714605"/>
                    <a:pt x="1916785" y="727274"/>
                    <a:pt x="1901157" y="727274"/>
                  </a:cubicBezTo>
                  <a:lnTo>
                    <a:pt x="28298" y="727274"/>
                  </a:lnTo>
                  <a:cubicBezTo>
                    <a:pt x="12669" y="727274"/>
                    <a:pt x="0" y="714605"/>
                    <a:pt x="0" y="698976"/>
                  </a:cubicBezTo>
                  <a:lnTo>
                    <a:pt x="0" y="28298"/>
                  </a:lnTo>
                  <a:cubicBezTo>
                    <a:pt x="0" y="12669"/>
                    <a:pt x="12669" y="0"/>
                    <a:pt x="28298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929454" cy="746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11265480" y="6683919"/>
            <a:ext cx="730014" cy="839096"/>
          </a:xfrm>
          <a:custGeom>
            <a:avLst/>
            <a:gdLst/>
            <a:ahLst/>
            <a:cxnLst/>
            <a:rect r="r" b="b" t="t" l="l"/>
            <a:pathLst>
              <a:path h="839096" w="730014">
                <a:moveTo>
                  <a:pt x="0" y="0"/>
                </a:moveTo>
                <a:lnTo>
                  <a:pt x="730014" y="0"/>
                </a:lnTo>
                <a:lnTo>
                  <a:pt x="730014" y="839096"/>
                </a:lnTo>
                <a:lnTo>
                  <a:pt x="0" y="839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4520987" y="6614480"/>
            <a:ext cx="5346603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Yang dilakukan peserta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520987" y="7027484"/>
            <a:ext cx="5346603" cy="1670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84"/>
              </a:lnSpc>
              <a:buFont typeface="Arial"/>
              <a:buChar char="•"/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Gunakan base model dan dataset yang telah disiapkan.</a:t>
            </a:r>
          </a:p>
          <a:p>
            <a:pPr algn="l" marL="474983" indent="-237491" lvl="1">
              <a:lnSpc>
                <a:spcPts val="2684"/>
              </a:lnSpc>
              <a:buFont typeface="Arial"/>
              <a:buChar char="•"/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Tera</a:t>
            </a: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pkan konfigurasi LoRA.</a:t>
            </a:r>
          </a:p>
          <a:p>
            <a:pPr algn="l" marL="474983" indent="-237491" lvl="1">
              <a:lnSpc>
                <a:spcPts val="2684"/>
              </a:lnSpc>
              <a:buFont typeface="Arial"/>
              <a:buChar char="•"/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Jalankan eksperimen fine-tuning.</a:t>
            </a:r>
          </a:p>
          <a:p>
            <a:pPr algn="l" marL="474983" indent="-237491" lvl="1">
              <a:lnSpc>
                <a:spcPts val="2684"/>
              </a:lnSpc>
              <a:buFont typeface="Arial"/>
              <a:buChar char="•"/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Simpan hasil training sebagai adapter.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319344" y="6680938"/>
            <a:ext cx="1104073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Hasil: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19344" y="7084417"/>
            <a:ext cx="2893802" cy="92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0"/>
              </a:lnSpc>
            </a:pPr>
            <a:r>
              <a:rPr lang="en-US" sz="20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Eksperimen menghasilkan LoRA adapter dan training record.</a:t>
            </a:r>
          </a:p>
        </p:txBody>
      </p:sp>
    </p:spTree>
  </p:cSld>
  <p:clrMapOvr>
    <a:masterClrMapping/>
  </p:clrMapOvr>
  <p:transition spd="med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99223" y="284680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890331" y="6746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2" y="708132"/>
                </a:moveTo>
                <a:lnTo>
                  <a:pt x="0" y="708132"/>
                </a:lnTo>
                <a:lnTo>
                  <a:pt x="0" y="0"/>
                </a:lnTo>
                <a:lnTo>
                  <a:pt x="5780662" y="0"/>
                </a:lnTo>
                <a:lnTo>
                  <a:pt x="5780662" y="70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471922" y="992811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1"/>
                </a:moveTo>
                <a:lnTo>
                  <a:pt x="5780663" y="708131"/>
                </a:lnTo>
                <a:lnTo>
                  <a:pt x="5780663" y="0"/>
                </a:lnTo>
                <a:lnTo>
                  <a:pt x="0" y="0"/>
                </a:lnTo>
                <a:lnTo>
                  <a:pt x="0" y="70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7572642" y="638745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1"/>
                </a:moveTo>
                <a:lnTo>
                  <a:pt x="5780663" y="708131"/>
                </a:lnTo>
                <a:lnTo>
                  <a:pt x="5780663" y="0"/>
                </a:lnTo>
                <a:lnTo>
                  <a:pt x="0" y="0"/>
                </a:lnTo>
                <a:lnTo>
                  <a:pt x="0" y="70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26604" y="8195205"/>
            <a:ext cx="12034792" cy="1231461"/>
            <a:chOff x="0" y="0"/>
            <a:chExt cx="4715259" cy="4824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715259" cy="482489"/>
            </a:xfrm>
            <a:custGeom>
              <a:avLst/>
              <a:gdLst/>
              <a:ahLst/>
              <a:cxnLst/>
              <a:rect r="r" b="b" t="t" l="l"/>
              <a:pathLst>
                <a:path h="482489" w="4715259">
                  <a:moveTo>
                    <a:pt x="11579" y="0"/>
                  </a:moveTo>
                  <a:lnTo>
                    <a:pt x="4703680" y="0"/>
                  </a:lnTo>
                  <a:cubicBezTo>
                    <a:pt x="4710075" y="0"/>
                    <a:pt x="4715259" y="5184"/>
                    <a:pt x="4715259" y="11579"/>
                  </a:cubicBezTo>
                  <a:lnTo>
                    <a:pt x="4715259" y="470910"/>
                  </a:lnTo>
                  <a:cubicBezTo>
                    <a:pt x="4715259" y="473981"/>
                    <a:pt x="4714039" y="476926"/>
                    <a:pt x="4711867" y="479098"/>
                  </a:cubicBezTo>
                  <a:cubicBezTo>
                    <a:pt x="4709696" y="481269"/>
                    <a:pt x="4706751" y="482489"/>
                    <a:pt x="4703680" y="482489"/>
                  </a:cubicBezTo>
                  <a:lnTo>
                    <a:pt x="11579" y="482489"/>
                  </a:lnTo>
                  <a:cubicBezTo>
                    <a:pt x="5184" y="482489"/>
                    <a:pt x="0" y="477305"/>
                    <a:pt x="0" y="470910"/>
                  </a:cubicBezTo>
                  <a:lnTo>
                    <a:pt x="0" y="11579"/>
                  </a:lnTo>
                  <a:cubicBezTo>
                    <a:pt x="0" y="5184"/>
                    <a:pt x="5184" y="0"/>
                    <a:pt x="11579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4715259" cy="50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571278" y="8391387"/>
            <a:ext cx="730014" cy="839096"/>
          </a:xfrm>
          <a:custGeom>
            <a:avLst/>
            <a:gdLst/>
            <a:ahLst/>
            <a:cxnLst/>
            <a:rect r="r" b="b" t="t" l="l"/>
            <a:pathLst>
              <a:path h="839096" w="730014">
                <a:moveTo>
                  <a:pt x="0" y="0"/>
                </a:moveTo>
                <a:lnTo>
                  <a:pt x="730014" y="0"/>
                </a:lnTo>
                <a:lnTo>
                  <a:pt x="730014" y="839097"/>
                </a:lnTo>
                <a:lnTo>
                  <a:pt x="0" y="839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34549" y="2577771"/>
            <a:ext cx="9618902" cy="5404686"/>
          </a:xfrm>
          <a:custGeom>
            <a:avLst/>
            <a:gdLst/>
            <a:ahLst/>
            <a:cxnLst/>
            <a:rect r="r" b="b" t="t" l="l"/>
            <a:pathLst>
              <a:path h="5404686" w="9618902">
                <a:moveTo>
                  <a:pt x="0" y="0"/>
                </a:moveTo>
                <a:lnTo>
                  <a:pt x="9618902" y="0"/>
                </a:lnTo>
                <a:lnTo>
                  <a:pt x="9618902" y="5404686"/>
                </a:lnTo>
                <a:lnTo>
                  <a:pt x="0" y="54046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1864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ngkah 4: Pantau Proses Training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Gunakan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train loss dan evaluation loss untuk memantau proses pembelajaran model.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12864" y="8426253"/>
            <a:ext cx="3380570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12864" y="8839257"/>
            <a:ext cx="10203858" cy="33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84"/>
              </a:lnSpc>
              <a:buFont typeface="Arial"/>
              <a:buChar char="•"/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Peserta dapat melihat apakah konfigurasi perlu dievaluasi atau diiterasi kembali.</a:t>
            </a:r>
          </a:p>
        </p:txBody>
      </p:sp>
    </p:spTree>
  </p:cSld>
  <p:clrMapOvr>
    <a:masterClrMapping/>
  </p:clrMapOvr>
  <p:transition spd="med">
    <p:wipe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705068" y="9258300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075595" y="9459862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289602" y="59031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13812" y="85865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2"/>
                </a:moveTo>
                <a:lnTo>
                  <a:pt x="5780662" y="708132"/>
                </a:lnTo>
                <a:lnTo>
                  <a:pt x="5780662" y="0"/>
                </a:lnTo>
                <a:lnTo>
                  <a:pt x="0" y="0"/>
                </a:lnTo>
                <a:lnTo>
                  <a:pt x="0" y="70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02267" y="4098805"/>
            <a:ext cx="1283467" cy="885592"/>
          </a:xfrm>
          <a:custGeom>
            <a:avLst/>
            <a:gdLst/>
            <a:ahLst/>
            <a:cxnLst/>
            <a:rect r="r" b="b" t="t" l="l"/>
            <a:pathLst>
              <a:path h="885592" w="1283467">
                <a:moveTo>
                  <a:pt x="0" y="0"/>
                </a:moveTo>
                <a:lnTo>
                  <a:pt x="1283466" y="0"/>
                </a:lnTo>
                <a:lnTo>
                  <a:pt x="1283466" y="885592"/>
                </a:lnTo>
                <a:lnTo>
                  <a:pt x="0" y="885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5: Eva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luasi Before vs After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Bandingkan bas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model dan fine-tuned model menggunakan held-out test set yang sama.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951411" y="2850280"/>
            <a:ext cx="3794197" cy="778297"/>
            <a:chOff x="0" y="0"/>
            <a:chExt cx="5058929" cy="1037729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058929" cy="1037729"/>
              <a:chOff x="0" y="0"/>
              <a:chExt cx="1486575" cy="304939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486575" cy="304939"/>
              </a:xfrm>
              <a:custGeom>
                <a:avLst/>
                <a:gdLst/>
                <a:ahLst/>
                <a:cxnLst/>
                <a:rect r="r" b="b" t="t" l="l"/>
                <a:pathLst>
                  <a:path h="304939" w="1486575">
                    <a:moveTo>
                      <a:pt x="65295" y="0"/>
                    </a:moveTo>
                    <a:lnTo>
                      <a:pt x="1421280" y="0"/>
                    </a:lnTo>
                    <a:cubicBezTo>
                      <a:pt x="1457342" y="0"/>
                      <a:pt x="1486575" y="29233"/>
                      <a:pt x="1486575" y="65295"/>
                    </a:cubicBezTo>
                    <a:lnTo>
                      <a:pt x="1486575" y="239644"/>
                    </a:lnTo>
                    <a:cubicBezTo>
                      <a:pt x="1486575" y="275705"/>
                      <a:pt x="1457342" y="304939"/>
                      <a:pt x="1421280" y="304939"/>
                    </a:cubicBezTo>
                    <a:lnTo>
                      <a:pt x="65295" y="304939"/>
                    </a:lnTo>
                    <a:cubicBezTo>
                      <a:pt x="29233" y="304939"/>
                      <a:pt x="0" y="275705"/>
                      <a:pt x="0" y="239644"/>
                    </a:cubicBezTo>
                    <a:lnTo>
                      <a:pt x="0" y="65295"/>
                    </a:lnTo>
                    <a:cubicBezTo>
                      <a:pt x="0" y="29233"/>
                      <a:pt x="29233" y="0"/>
                      <a:pt x="65295" y="0"/>
                    </a:cubicBezTo>
                    <a:close/>
                  </a:path>
                </a:pathLst>
              </a:custGeom>
              <a:solidFill>
                <a:srgbClr val="5CB6F9">
                  <a:alpha val="31765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1486575" cy="3239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83436" y="297038"/>
              <a:ext cx="3750127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Base Model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51411" y="4152452"/>
            <a:ext cx="3794197" cy="778297"/>
            <a:chOff x="0" y="0"/>
            <a:chExt cx="5058929" cy="1037729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058929" cy="1037729"/>
              <a:chOff x="0" y="0"/>
              <a:chExt cx="1486575" cy="30493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486575" cy="304939"/>
              </a:xfrm>
              <a:custGeom>
                <a:avLst/>
                <a:gdLst/>
                <a:ahLst/>
                <a:cxnLst/>
                <a:rect r="r" b="b" t="t" l="l"/>
                <a:pathLst>
                  <a:path h="304939" w="1486575">
                    <a:moveTo>
                      <a:pt x="65295" y="0"/>
                    </a:moveTo>
                    <a:lnTo>
                      <a:pt x="1421280" y="0"/>
                    </a:lnTo>
                    <a:cubicBezTo>
                      <a:pt x="1457342" y="0"/>
                      <a:pt x="1486575" y="29233"/>
                      <a:pt x="1486575" y="65295"/>
                    </a:cubicBezTo>
                    <a:lnTo>
                      <a:pt x="1486575" y="239644"/>
                    </a:lnTo>
                    <a:cubicBezTo>
                      <a:pt x="1486575" y="275705"/>
                      <a:pt x="1457342" y="304939"/>
                      <a:pt x="1421280" y="304939"/>
                    </a:cubicBezTo>
                    <a:lnTo>
                      <a:pt x="65295" y="304939"/>
                    </a:lnTo>
                    <a:cubicBezTo>
                      <a:pt x="29233" y="304939"/>
                      <a:pt x="0" y="275705"/>
                      <a:pt x="0" y="239644"/>
                    </a:cubicBezTo>
                    <a:lnTo>
                      <a:pt x="0" y="65295"/>
                    </a:lnTo>
                    <a:cubicBezTo>
                      <a:pt x="0" y="29233"/>
                      <a:pt x="29233" y="0"/>
                      <a:pt x="65295" y="0"/>
                    </a:cubicBezTo>
                    <a:close/>
                  </a:path>
                </a:pathLst>
              </a:custGeom>
              <a:solidFill>
                <a:srgbClr val="5CB6F9">
                  <a:alpha val="31765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1486575" cy="3239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83436" y="297038"/>
              <a:ext cx="3750127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Held-out Test Set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951411" y="5454624"/>
            <a:ext cx="3794197" cy="778297"/>
            <a:chOff x="0" y="0"/>
            <a:chExt cx="5058929" cy="1037729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5058929" cy="1037729"/>
              <a:chOff x="0" y="0"/>
              <a:chExt cx="1486575" cy="304939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486575" cy="304939"/>
              </a:xfrm>
              <a:custGeom>
                <a:avLst/>
                <a:gdLst/>
                <a:ahLst/>
                <a:cxnLst/>
                <a:rect r="r" b="b" t="t" l="l"/>
                <a:pathLst>
                  <a:path h="304939" w="1486575">
                    <a:moveTo>
                      <a:pt x="65295" y="0"/>
                    </a:moveTo>
                    <a:lnTo>
                      <a:pt x="1421280" y="0"/>
                    </a:lnTo>
                    <a:cubicBezTo>
                      <a:pt x="1457342" y="0"/>
                      <a:pt x="1486575" y="29233"/>
                      <a:pt x="1486575" y="65295"/>
                    </a:cubicBezTo>
                    <a:lnTo>
                      <a:pt x="1486575" y="239644"/>
                    </a:lnTo>
                    <a:cubicBezTo>
                      <a:pt x="1486575" y="275705"/>
                      <a:pt x="1457342" y="304939"/>
                      <a:pt x="1421280" y="304939"/>
                    </a:cubicBezTo>
                    <a:lnTo>
                      <a:pt x="65295" y="304939"/>
                    </a:lnTo>
                    <a:cubicBezTo>
                      <a:pt x="29233" y="304939"/>
                      <a:pt x="0" y="275705"/>
                      <a:pt x="0" y="239644"/>
                    </a:cubicBezTo>
                    <a:lnTo>
                      <a:pt x="0" y="65295"/>
                    </a:lnTo>
                    <a:cubicBezTo>
                      <a:pt x="0" y="29233"/>
                      <a:pt x="29233" y="0"/>
                      <a:pt x="65295" y="0"/>
                    </a:cubicBezTo>
                    <a:close/>
                  </a:path>
                </a:pathLst>
              </a:custGeom>
              <a:solidFill>
                <a:srgbClr val="5CB6F9">
                  <a:alpha val="31765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1486575" cy="3239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683436" y="297038"/>
              <a:ext cx="3750127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542392" y="2850280"/>
            <a:ext cx="3794197" cy="778297"/>
            <a:chOff x="0" y="0"/>
            <a:chExt cx="5058929" cy="103772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5058929" cy="1037729"/>
              <a:chOff x="0" y="0"/>
              <a:chExt cx="1486575" cy="30493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486575" cy="304939"/>
              </a:xfrm>
              <a:custGeom>
                <a:avLst/>
                <a:gdLst/>
                <a:ahLst/>
                <a:cxnLst/>
                <a:rect r="r" b="b" t="t" l="l"/>
                <a:pathLst>
                  <a:path h="304939" w="1486575">
                    <a:moveTo>
                      <a:pt x="65295" y="0"/>
                    </a:moveTo>
                    <a:lnTo>
                      <a:pt x="1421280" y="0"/>
                    </a:lnTo>
                    <a:cubicBezTo>
                      <a:pt x="1457342" y="0"/>
                      <a:pt x="1486575" y="29233"/>
                      <a:pt x="1486575" y="65295"/>
                    </a:cubicBezTo>
                    <a:lnTo>
                      <a:pt x="1486575" y="239644"/>
                    </a:lnTo>
                    <a:cubicBezTo>
                      <a:pt x="1486575" y="275705"/>
                      <a:pt x="1457342" y="304939"/>
                      <a:pt x="1421280" y="304939"/>
                    </a:cubicBezTo>
                    <a:lnTo>
                      <a:pt x="65295" y="304939"/>
                    </a:lnTo>
                    <a:cubicBezTo>
                      <a:pt x="29233" y="304939"/>
                      <a:pt x="0" y="275705"/>
                      <a:pt x="0" y="239644"/>
                    </a:cubicBezTo>
                    <a:lnTo>
                      <a:pt x="0" y="65295"/>
                    </a:lnTo>
                    <a:cubicBezTo>
                      <a:pt x="0" y="29233"/>
                      <a:pt x="29233" y="0"/>
                      <a:pt x="65295" y="0"/>
                    </a:cubicBezTo>
                    <a:close/>
                  </a:path>
                </a:pathLst>
              </a:custGeom>
              <a:solidFill>
                <a:srgbClr val="CAE8FF">
                  <a:alpha val="31765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1486575" cy="3239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683436" y="297038"/>
              <a:ext cx="3750127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Fine-Tuned Model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542392" y="4152452"/>
            <a:ext cx="3794197" cy="778297"/>
            <a:chOff x="0" y="0"/>
            <a:chExt cx="5058929" cy="103772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058929" cy="1037729"/>
              <a:chOff x="0" y="0"/>
              <a:chExt cx="1486575" cy="304939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86575" cy="304939"/>
              </a:xfrm>
              <a:custGeom>
                <a:avLst/>
                <a:gdLst/>
                <a:ahLst/>
                <a:cxnLst/>
                <a:rect r="r" b="b" t="t" l="l"/>
                <a:pathLst>
                  <a:path h="304939" w="1486575">
                    <a:moveTo>
                      <a:pt x="65295" y="0"/>
                    </a:moveTo>
                    <a:lnTo>
                      <a:pt x="1421280" y="0"/>
                    </a:lnTo>
                    <a:cubicBezTo>
                      <a:pt x="1457342" y="0"/>
                      <a:pt x="1486575" y="29233"/>
                      <a:pt x="1486575" y="65295"/>
                    </a:cubicBezTo>
                    <a:lnTo>
                      <a:pt x="1486575" y="239644"/>
                    </a:lnTo>
                    <a:cubicBezTo>
                      <a:pt x="1486575" y="275705"/>
                      <a:pt x="1457342" y="304939"/>
                      <a:pt x="1421280" y="304939"/>
                    </a:cubicBezTo>
                    <a:lnTo>
                      <a:pt x="65295" y="304939"/>
                    </a:lnTo>
                    <a:cubicBezTo>
                      <a:pt x="29233" y="304939"/>
                      <a:pt x="0" y="275705"/>
                      <a:pt x="0" y="239644"/>
                    </a:cubicBezTo>
                    <a:lnTo>
                      <a:pt x="0" y="65295"/>
                    </a:lnTo>
                    <a:cubicBezTo>
                      <a:pt x="0" y="29233"/>
                      <a:pt x="29233" y="0"/>
                      <a:pt x="65295" y="0"/>
                    </a:cubicBezTo>
                    <a:close/>
                  </a:path>
                </a:pathLst>
              </a:custGeom>
              <a:solidFill>
                <a:srgbClr val="CAE8FF">
                  <a:alpha val="31765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19050"/>
                <a:ext cx="1486575" cy="3239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683436" y="297038"/>
              <a:ext cx="3750127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Held-out Test Set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542392" y="5454624"/>
            <a:ext cx="3794197" cy="778297"/>
            <a:chOff x="0" y="0"/>
            <a:chExt cx="5058929" cy="1037729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5058929" cy="1037729"/>
              <a:chOff x="0" y="0"/>
              <a:chExt cx="1486575" cy="304939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486575" cy="304939"/>
              </a:xfrm>
              <a:custGeom>
                <a:avLst/>
                <a:gdLst/>
                <a:ahLst/>
                <a:cxnLst/>
                <a:rect r="r" b="b" t="t" l="l"/>
                <a:pathLst>
                  <a:path h="304939" w="1486575">
                    <a:moveTo>
                      <a:pt x="65295" y="0"/>
                    </a:moveTo>
                    <a:lnTo>
                      <a:pt x="1421280" y="0"/>
                    </a:lnTo>
                    <a:cubicBezTo>
                      <a:pt x="1457342" y="0"/>
                      <a:pt x="1486575" y="29233"/>
                      <a:pt x="1486575" y="65295"/>
                    </a:cubicBezTo>
                    <a:lnTo>
                      <a:pt x="1486575" y="239644"/>
                    </a:lnTo>
                    <a:cubicBezTo>
                      <a:pt x="1486575" y="275705"/>
                      <a:pt x="1457342" y="304939"/>
                      <a:pt x="1421280" y="304939"/>
                    </a:cubicBezTo>
                    <a:lnTo>
                      <a:pt x="65295" y="304939"/>
                    </a:lnTo>
                    <a:cubicBezTo>
                      <a:pt x="29233" y="304939"/>
                      <a:pt x="0" y="275705"/>
                      <a:pt x="0" y="239644"/>
                    </a:cubicBezTo>
                    <a:lnTo>
                      <a:pt x="0" y="65295"/>
                    </a:lnTo>
                    <a:cubicBezTo>
                      <a:pt x="0" y="29233"/>
                      <a:pt x="29233" y="0"/>
                      <a:pt x="65295" y="0"/>
                    </a:cubicBezTo>
                    <a:close/>
                  </a:path>
                </a:pathLst>
              </a:custGeom>
              <a:solidFill>
                <a:srgbClr val="CAE8FF">
                  <a:alpha val="31765"/>
                </a:srgbClr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1486575" cy="3239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TextBox 38" id="38"/>
            <p:cNvSpPr txBox="true"/>
            <p:nvPr/>
          </p:nvSpPr>
          <p:spPr>
            <a:xfrm rot="0">
              <a:off x="683436" y="297038"/>
              <a:ext cx="3750127" cy="481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Evaluation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5848510" y="3628577"/>
            <a:ext cx="0" cy="523875"/>
          </a:xfrm>
          <a:prstGeom prst="line">
            <a:avLst/>
          </a:pr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0" id="40"/>
          <p:cNvSpPr/>
          <p:nvPr/>
        </p:nvSpPr>
        <p:spPr>
          <a:xfrm>
            <a:off x="5848510" y="4930749"/>
            <a:ext cx="0" cy="523875"/>
          </a:xfrm>
          <a:prstGeom prst="line">
            <a:avLst/>
          </a:pr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1" id="41"/>
          <p:cNvSpPr/>
          <p:nvPr/>
        </p:nvSpPr>
        <p:spPr>
          <a:xfrm>
            <a:off x="12439490" y="3628577"/>
            <a:ext cx="0" cy="523875"/>
          </a:xfrm>
          <a:prstGeom prst="line">
            <a:avLst/>
          </a:pr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42" id="42"/>
          <p:cNvSpPr/>
          <p:nvPr/>
        </p:nvSpPr>
        <p:spPr>
          <a:xfrm>
            <a:off x="12439490" y="4930749"/>
            <a:ext cx="0" cy="523875"/>
          </a:xfrm>
          <a:prstGeom prst="line">
            <a:avLst/>
          </a:prstGeom>
          <a:ln cap="flat" w="47625">
            <a:solidFill>
              <a:srgbClr val="5CB6F9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3" id="43"/>
          <p:cNvGrpSpPr/>
          <p:nvPr/>
        </p:nvGrpSpPr>
        <p:grpSpPr>
          <a:xfrm rot="0">
            <a:off x="4340143" y="8593630"/>
            <a:ext cx="9607713" cy="866232"/>
            <a:chOff x="0" y="0"/>
            <a:chExt cx="4909118" cy="4426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909118" cy="442606"/>
            </a:xfrm>
            <a:custGeom>
              <a:avLst/>
              <a:gdLst/>
              <a:ahLst/>
              <a:cxnLst/>
              <a:rect r="r" b="b" t="t" l="l"/>
              <a:pathLst>
                <a:path h="442606" w="4909118">
                  <a:moveTo>
                    <a:pt x="14504" y="0"/>
                  </a:moveTo>
                  <a:lnTo>
                    <a:pt x="4894613" y="0"/>
                  </a:lnTo>
                  <a:cubicBezTo>
                    <a:pt x="4898460" y="0"/>
                    <a:pt x="4902150" y="1528"/>
                    <a:pt x="4904870" y="4248"/>
                  </a:cubicBezTo>
                  <a:cubicBezTo>
                    <a:pt x="4907590" y="6968"/>
                    <a:pt x="4909118" y="10658"/>
                    <a:pt x="4909118" y="14504"/>
                  </a:cubicBezTo>
                  <a:lnTo>
                    <a:pt x="4909118" y="428102"/>
                  </a:lnTo>
                  <a:cubicBezTo>
                    <a:pt x="4909118" y="431949"/>
                    <a:pt x="4907590" y="435638"/>
                    <a:pt x="4904870" y="438358"/>
                  </a:cubicBezTo>
                  <a:cubicBezTo>
                    <a:pt x="4902150" y="441078"/>
                    <a:pt x="4898460" y="442606"/>
                    <a:pt x="4894613" y="442606"/>
                  </a:cubicBezTo>
                  <a:lnTo>
                    <a:pt x="14504" y="442606"/>
                  </a:lnTo>
                  <a:cubicBezTo>
                    <a:pt x="10658" y="442606"/>
                    <a:pt x="6968" y="441078"/>
                    <a:pt x="4248" y="438358"/>
                  </a:cubicBezTo>
                  <a:cubicBezTo>
                    <a:pt x="1528" y="435638"/>
                    <a:pt x="0" y="431949"/>
                    <a:pt x="0" y="428102"/>
                  </a:cubicBezTo>
                  <a:lnTo>
                    <a:pt x="0" y="14504"/>
                  </a:lnTo>
                  <a:cubicBezTo>
                    <a:pt x="0" y="10658"/>
                    <a:pt x="1528" y="6968"/>
                    <a:pt x="4248" y="4248"/>
                  </a:cubicBezTo>
                  <a:cubicBezTo>
                    <a:pt x="6968" y="1528"/>
                    <a:pt x="10658" y="0"/>
                    <a:pt x="14504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4909118" cy="461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4661454" y="8696003"/>
            <a:ext cx="532496" cy="661486"/>
          </a:xfrm>
          <a:custGeom>
            <a:avLst/>
            <a:gdLst/>
            <a:ahLst/>
            <a:cxnLst/>
            <a:rect r="r" b="b" t="t" l="l"/>
            <a:pathLst>
              <a:path h="661486" w="532496">
                <a:moveTo>
                  <a:pt x="0" y="0"/>
                </a:moveTo>
                <a:lnTo>
                  <a:pt x="532496" y="0"/>
                </a:lnTo>
                <a:lnTo>
                  <a:pt x="532496" y="661486"/>
                </a:lnTo>
                <a:lnTo>
                  <a:pt x="0" y="6614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5469378" y="8856832"/>
            <a:ext cx="815716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</a:t>
            </a: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Perubahan</a:t>
            </a: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performa setelah fine-tuning dapat diukur.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2068916" y="6816118"/>
            <a:ext cx="14150169" cy="1523809"/>
            <a:chOff x="0" y="0"/>
            <a:chExt cx="5544069" cy="5970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44069" cy="597032"/>
            </a:xfrm>
            <a:custGeom>
              <a:avLst/>
              <a:gdLst/>
              <a:ahLst/>
              <a:cxnLst/>
              <a:rect r="r" b="b" t="t" l="l"/>
              <a:pathLst>
                <a:path h="597032" w="5544069">
                  <a:moveTo>
                    <a:pt x="9848" y="0"/>
                  </a:moveTo>
                  <a:lnTo>
                    <a:pt x="5534220" y="0"/>
                  </a:lnTo>
                  <a:cubicBezTo>
                    <a:pt x="5539660" y="0"/>
                    <a:pt x="5544069" y="4409"/>
                    <a:pt x="5544069" y="9848"/>
                  </a:cubicBezTo>
                  <a:lnTo>
                    <a:pt x="5544069" y="587183"/>
                  </a:lnTo>
                  <a:cubicBezTo>
                    <a:pt x="5544069" y="592622"/>
                    <a:pt x="5539660" y="597032"/>
                    <a:pt x="5534220" y="597032"/>
                  </a:cubicBezTo>
                  <a:lnTo>
                    <a:pt x="9848" y="597032"/>
                  </a:lnTo>
                  <a:cubicBezTo>
                    <a:pt x="4409" y="597032"/>
                    <a:pt x="0" y="592622"/>
                    <a:pt x="0" y="587183"/>
                  </a:cubicBezTo>
                  <a:lnTo>
                    <a:pt x="0" y="9848"/>
                  </a:lnTo>
                  <a:cubicBezTo>
                    <a:pt x="0" y="4409"/>
                    <a:pt x="4409" y="0"/>
                    <a:pt x="9848" y="0"/>
                  </a:cubicBezTo>
                  <a:close/>
                </a:path>
              </a:pathLst>
            </a:custGeom>
            <a:ln w="76200" cap="sq">
              <a:solidFill>
                <a:srgbClr val="121481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544069" cy="616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2068916" y="7061596"/>
            <a:ext cx="1415016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  <a:spcBef>
                <a:spcPct val="0"/>
              </a:spcBef>
            </a:pPr>
            <a:r>
              <a:rPr lang="en-US" b="true" sz="2400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Metrik Evaluasi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2386904" y="7578022"/>
            <a:ext cx="1885884" cy="507997"/>
            <a:chOff x="0" y="0"/>
            <a:chExt cx="2514512" cy="677329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2514512" cy="677329"/>
              <a:chOff x="0" y="0"/>
              <a:chExt cx="2514512" cy="677329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2514479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2514479">
                    <a:moveTo>
                      <a:pt x="0" y="93785"/>
                    </a:moveTo>
                    <a:cubicBezTo>
                      <a:pt x="0" y="42047"/>
                      <a:pt x="22427" y="0"/>
                      <a:pt x="50023" y="0"/>
                    </a:cubicBezTo>
                    <a:lnTo>
                      <a:pt x="2464456" y="0"/>
                    </a:lnTo>
                    <a:cubicBezTo>
                      <a:pt x="2492052" y="0"/>
                      <a:pt x="2514479" y="42047"/>
                      <a:pt x="2514479" y="93785"/>
                    </a:cubicBezTo>
                    <a:lnTo>
                      <a:pt x="2514479" y="583497"/>
                    </a:lnTo>
                    <a:cubicBezTo>
                      <a:pt x="2514479" y="635235"/>
                      <a:pt x="2492052" y="677282"/>
                      <a:pt x="2464456" y="677282"/>
                    </a:cubicBezTo>
                    <a:lnTo>
                      <a:pt x="50023" y="677282"/>
                    </a:lnTo>
                    <a:cubicBezTo>
                      <a:pt x="22427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4863A9"/>
              </a:solidFill>
            </p:spPr>
          </p:sp>
        </p:grpSp>
        <p:sp>
          <p:nvSpPr>
            <p:cNvPr name="TextBox 55" id="55"/>
            <p:cNvSpPr txBox="true"/>
            <p:nvPr/>
          </p:nvSpPr>
          <p:spPr>
            <a:xfrm rot="0">
              <a:off x="116567" y="87840"/>
              <a:ext cx="2281378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Accuracy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572385" y="7578022"/>
            <a:ext cx="1885884" cy="507997"/>
            <a:chOff x="0" y="0"/>
            <a:chExt cx="2514512" cy="677329"/>
          </a:xfrm>
        </p:grpSpPr>
        <p:grpSp>
          <p:nvGrpSpPr>
            <p:cNvPr name="Group 57" id="57"/>
            <p:cNvGrpSpPr/>
            <p:nvPr/>
          </p:nvGrpSpPr>
          <p:grpSpPr>
            <a:xfrm rot="0">
              <a:off x="0" y="0"/>
              <a:ext cx="2514512" cy="677329"/>
              <a:chOff x="0" y="0"/>
              <a:chExt cx="2514512" cy="677329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2514479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2514479">
                    <a:moveTo>
                      <a:pt x="0" y="93785"/>
                    </a:moveTo>
                    <a:cubicBezTo>
                      <a:pt x="0" y="42047"/>
                      <a:pt x="22427" y="0"/>
                      <a:pt x="50023" y="0"/>
                    </a:cubicBezTo>
                    <a:lnTo>
                      <a:pt x="2464456" y="0"/>
                    </a:lnTo>
                    <a:cubicBezTo>
                      <a:pt x="2492052" y="0"/>
                      <a:pt x="2514479" y="42047"/>
                      <a:pt x="2514479" y="93785"/>
                    </a:cubicBezTo>
                    <a:lnTo>
                      <a:pt x="2514479" y="583497"/>
                    </a:lnTo>
                    <a:cubicBezTo>
                      <a:pt x="2514479" y="635235"/>
                      <a:pt x="2492052" y="677282"/>
                      <a:pt x="2464456" y="677282"/>
                    </a:cubicBezTo>
                    <a:lnTo>
                      <a:pt x="50023" y="677282"/>
                    </a:lnTo>
                    <a:cubicBezTo>
                      <a:pt x="22427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4863A9"/>
              </a:solidFill>
            </p:spPr>
          </p:sp>
        </p:grpSp>
        <p:sp>
          <p:nvSpPr>
            <p:cNvPr name="TextBox 59" id="59"/>
            <p:cNvSpPr txBox="true"/>
            <p:nvPr/>
          </p:nvSpPr>
          <p:spPr>
            <a:xfrm rot="0">
              <a:off x="116567" y="87840"/>
              <a:ext cx="2281378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Macro-F1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753544" y="7578022"/>
            <a:ext cx="2844955" cy="507997"/>
            <a:chOff x="0" y="0"/>
            <a:chExt cx="3793273" cy="677329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3793273" cy="677329"/>
              <a:chOff x="0" y="0"/>
              <a:chExt cx="3793273" cy="677329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3793223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3793223">
                    <a:moveTo>
                      <a:pt x="0" y="93785"/>
                    </a:moveTo>
                    <a:cubicBezTo>
                      <a:pt x="0" y="42047"/>
                      <a:pt x="33832" y="0"/>
                      <a:pt x="75462" y="0"/>
                    </a:cubicBezTo>
                    <a:lnTo>
                      <a:pt x="3717761" y="0"/>
                    </a:lnTo>
                    <a:cubicBezTo>
                      <a:pt x="3759391" y="0"/>
                      <a:pt x="3793223" y="42047"/>
                      <a:pt x="3793223" y="93785"/>
                    </a:cubicBezTo>
                    <a:lnTo>
                      <a:pt x="3793223" y="583497"/>
                    </a:lnTo>
                    <a:cubicBezTo>
                      <a:pt x="3793223" y="635235"/>
                      <a:pt x="3759391" y="677282"/>
                      <a:pt x="3717761" y="677282"/>
                    </a:cubicBezTo>
                    <a:lnTo>
                      <a:pt x="75462" y="677282"/>
                    </a:lnTo>
                    <a:cubicBezTo>
                      <a:pt x="33832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4863A9"/>
              </a:solidFill>
            </p:spPr>
          </p:sp>
        </p:grpSp>
        <p:sp>
          <p:nvSpPr>
            <p:cNvPr name="TextBox 63" id="63"/>
            <p:cNvSpPr txBox="true"/>
            <p:nvPr/>
          </p:nvSpPr>
          <p:spPr>
            <a:xfrm rot="0">
              <a:off x="175848" y="87840"/>
              <a:ext cx="3441578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Precision / Recall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893774" y="7578022"/>
            <a:ext cx="2867093" cy="507997"/>
            <a:chOff x="0" y="0"/>
            <a:chExt cx="3822791" cy="677329"/>
          </a:xfrm>
        </p:grpSpPr>
        <p:grpSp>
          <p:nvGrpSpPr>
            <p:cNvPr name="Group 65" id="65"/>
            <p:cNvGrpSpPr/>
            <p:nvPr/>
          </p:nvGrpSpPr>
          <p:grpSpPr>
            <a:xfrm rot="0">
              <a:off x="0" y="0"/>
              <a:ext cx="3822791" cy="677329"/>
              <a:chOff x="0" y="0"/>
              <a:chExt cx="3822791" cy="677329"/>
            </a:xfrm>
          </p:grpSpPr>
          <p:sp>
            <p:nvSpPr>
              <p:cNvPr name="Freeform 66" id="66"/>
              <p:cNvSpPr/>
              <p:nvPr/>
            </p:nvSpPr>
            <p:spPr>
              <a:xfrm flipH="false" flipV="false" rot="0">
                <a:off x="0" y="0"/>
                <a:ext cx="3822740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3822740">
                    <a:moveTo>
                      <a:pt x="0" y="93785"/>
                    </a:moveTo>
                    <a:cubicBezTo>
                      <a:pt x="0" y="42047"/>
                      <a:pt x="34095" y="0"/>
                      <a:pt x="76049" y="0"/>
                    </a:cubicBezTo>
                    <a:lnTo>
                      <a:pt x="3746691" y="0"/>
                    </a:lnTo>
                    <a:cubicBezTo>
                      <a:pt x="3788644" y="0"/>
                      <a:pt x="3822740" y="42047"/>
                      <a:pt x="3822740" y="93785"/>
                    </a:cubicBezTo>
                    <a:lnTo>
                      <a:pt x="3822740" y="583497"/>
                    </a:lnTo>
                    <a:cubicBezTo>
                      <a:pt x="3822740" y="635235"/>
                      <a:pt x="3788644" y="677282"/>
                      <a:pt x="3746691" y="677282"/>
                    </a:cubicBezTo>
                    <a:lnTo>
                      <a:pt x="76049" y="677282"/>
                    </a:lnTo>
                    <a:cubicBezTo>
                      <a:pt x="34095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4863A9"/>
              </a:solidFill>
            </p:spPr>
          </p:sp>
        </p:grpSp>
        <p:sp>
          <p:nvSpPr>
            <p:cNvPr name="TextBox 67" id="67"/>
            <p:cNvSpPr txBox="true"/>
            <p:nvPr/>
          </p:nvSpPr>
          <p:spPr>
            <a:xfrm rot="0">
              <a:off x="177216" y="87840"/>
              <a:ext cx="3468358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Report Factuality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056141" y="7578022"/>
            <a:ext cx="2844955" cy="507997"/>
            <a:chOff x="0" y="0"/>
            <a:chExt cx="3793273" cy="677329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3793273" cy="677329"/>
              <a:chOff x="0" y="0"/>
              <a:chExt cx="3793273" cy="677329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3793223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3793223">
                    <a:moveTo>
                      <a:pt x="0" y="93785"/>
                    </a:moveTo>
                    <a:cubicBezTo>
                      <a:pt x="0" y="42047"/>
                      <a:pt x="33832" y="0"/>
                      <a:pt x="75462" y="0"/>
                    </a:cubicBezTo>
                    <a:lnTo>
                      <a:pt x="3717761" y="0"/>
                    </a:lnTo>
                    <a:cubicBezTo>
                      <a:pt x="3759391" y="0"/>
                      <a:pt x="3793223" y="42047"/>
                      <a:pt x="3793223" y="93785"/>
                    </a:cubicBezTo>
                    <a:lnTo>
                      <a:pt x="3793223" y="583497"/>
                    </a:lnTo>
                    <a:cubicBezTo>
                      <a:pt x="3793223" y="635235"/>
                      <a:pt x="3759391" y="677282"/>
                      <a:pt x="3717761" y="677282"/>
                    </a:cubicBezTo>
                    <a:lnTo>
                      <a:pt x="75462" y="677282"/>
                    </a:lnTo>
                    <a:cubicBezTo>
                      <a:pt x="33832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4863A9"/>
              </a:solidFill>
            </p:spPr>
          </p:sp>
        </p:grpSp>
        <p:sp>
          <p:nvSpPr>
            <p:cNvPr name="TextBox 71" id="71"/>
            <p:cNvSpPr txBox="true"/>
            <p:nvPr/>
          </p:nvSpPr>
          <p:spPr>
            <a:xfrm rot="0">
              <a:off x="175848" y="87840"/>
              <a:ext cx="3441578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Hallucination Rate</a:t>
              </a:r>
            </a:p>
          </p:txBody>
        </p:sp>
      </p:grpSp>
    </p:spTree>
  </p:cSld>
  <p:clrMapOvr>
    <a:masterClrMapping/>
  </p:clrMapOvr>
  <p:transition spd="med">
    <p:wipe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99223" y="284680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890331" y="6746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2" y="708132"/>
                </a:moveTo>
                <a:lnTo>
                  <a:pt x="0" y="708132"/>
                </a:lnTo>
                <a:lnTo>
                  <a:pt x="0" y="0"/>
                </a:lnTo>
                <a:lnTo>
                  <a:pt x="5780662" y="0"/>
                </a:lnTo>
                <a:lnTo>
                  <a:pt x="5780662" y="70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471922" y="992811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1"/>
                </a:moveTo>
                <a:lnTo>
                  <a:pt x="5780663" y="708131"/>
                </a:lnTo>
                <a:lnTo>
                  <a:pt x="5780663" y="0"/>
                </a:lnTo>
                <a:lnTo>
                  <a:pt x="0" y="0"/>
                </a:lnTo>
                <a:lnTo>
                  <a:pt x="0" y="70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7572642" y="638745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1"/>
                </a:moveTo>
                <a:lnTo>
                  <a:pt x="5780663" y="708131"/>
                </a:lnTo>
                <a:lnTo>
                  <a:pt x="5780663" y="0"/>
                </a:lnTo>
                <a:lnTo>
                  <a:pt x="0" y="0"/>
                </a:lnTo>
                <a:lnTo>
                  <a:pt x="0" y="70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>
            <a:off x="3610817" y="3863453"/>
            <a:ext cx="697167" cy="0"/>
          </a:xfrm>
          <a:custGeom>
            <a:avLst/>
            <a:gdLst/>
            <a:ahLst/>
            <a:cxnLst/>
            <a:rect r="r" b="b" t="t" l="l"/>
            <a:pathLst>
              <a:path h="0" w="697167">
                <a:moveTo>
                  <a:pt x="0" y="0"/>
                </a:moveTo>
                <a:lnTo>
                  <a:pt x="697167" y="0"/>
                </a:lnTo>
              </a:path>
            </a:pathLst>
          </a:cu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7" id="7"/>
          <p:cNvSpPr/>
          <p:nvPr/>
        </p:nvSpPr>
        <p:spPr>
          <a:xfrm>
            <a:off x="6204434" y="3844403"/>
            <a:ext cx="697167" cy="0"/>
          </a:xfrm>
          <a:custGeom>
            <a:avLst/>
            <a:gdLst/>
            <a:ahLst/>
            <a:cxnLst/>
            <a:rect r="r" b="b" t="t" l="l"/>
            <a:pathLst>
              <a:path h="0" w="697167">
                <a:moveTo>
                  <a:pt x="0" y="0"/>
                </a:moveTo>
                <a:lnTo>
                  <a:pt x="697166" y="0"/>
                </a:lnTo>
              </a:path>
            </a:pathLst>
          </a:cu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8" id="8"/>
          <p:cNvSpPr/>
          <p:nvPr/>
        </p:nvSpPr>
        <p:spPr>
          <a:xfrm>
            <a:off x="8795767" y="3824178"/>
            <a:ext cx="697166" cy="0"/>
          </a:xfrm>
          <a:custGeom>
            <a:avLst/>
            <a:gdLst/>
            <a:ahLst/>
            <a:cxnLst/>
            <a:rect r="r" b="b" t="t" l="l"/>
            <a:pathLst>
              <a:path h="0" w="697166">
                <a:moveTo>
                  <a:pt x="0" y="0"/>
                </a:moveTo>
                <a:lnTo>
                  <a:pt x="697166" y="0"/>
                </a:lnTo>
              </a:path>
            </a:pathLst>
          </a:cu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9" id="9"/>
          <p:cNvSpPr/>
          <p:nvPr/>
        </p:nvSpPr>
        <p:spPr>
          <a:xfrm>
            <a:off x="11389034" y="3825353"/>
            <a:ext cx="697167" cy="0"/>
          </a:xfrm>
          <a:custGeom>
            <a:avLst/>
            <a:gdLst/>
            <a:ahLst/>
            <a:cxnLst/>
            <a:rect r="r" b="b" t="t" l="l"/>
            <a:pathLst>
              <a:path h="0" w="697167">
                <a:moveTo>
                  <a:pt x="0" y="0"/>
                </a:moveTo>
                <a:lnTo>
                  <a:pt x="697166" y="0"/>
                </a:lnTo>
              </a:path>
            </a:pathLst>
          </a:cu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0" id="10"/>
          <p:cNvSpPr/>
          <p:nvPr/>
        </p:nvSpPr>
        <p:spPr>
          <a:xfrm>
            <a:off x="13981334" y="3805128"/>
            <a:ext cx="697165" cy="0"/>
          </a:xfrm>
          <a:custGeom>
            <a:avLst/>
            <a:gdLst/>
            <a:ahLst/>
            <a:cxnLst/>
            <a:rect r="r" b="b" t="t" l="l"/>
            <a:pathLst>
              <a:path h="0" w="697165">
                <a:moveTo>
                  <a:pt x="0" y="0"/>
                </a:moveTo>
                <a:lnTo>
                  <a:pt x="697165" y="0"/>
                </a:lnTo>
              </a:path>
            </a:pathLst>
          </a:cu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2189138" y="3272297"/>
            <a:ext cx="947524" cy="966861"/>
          </a:xfrm>
          <a:custGeom>
            <a:avLst/>
            <a:gdLst/>
            <a:ahLst/>
            <a:cxnLst/>
            <a:rect r="r" b="b" t="t" l="l"/>
            <a:pathLst>
              <a:path h="966861" w="947524">
                <a:moveTo>
                  <a:pt x="0" y="0"/>
                </a:moveTo>
                <a:lnTo>
                  <a:pt x="947524" y="0"/>
                </a:lnTo>
                <a:lnTo>
                  <a:pt x="947524" y="966861"/>
                </a:lnTo>
                <a:lnTo>
                  <a:pt x="0" y="966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700233" y="3272297"/>
            <a:ext cx="1111335" cy="966861"/>
          </a:xfrm>
          <a:custGeom>
            <a:avLst/>
            <a:gdLst/>
            <a:ahLst/>
            <a:cxnLst/>
            <a:rect r="r" b="b" t="t" l="l"/>
            <a:pathLst>
              <a:path h="966861" w="1111335">
                <a:moveTo>
                  <a:pt x="0" y="0"/>
                </a:moveTo>
                <a:lnTo>
                  <a:pt x="1111334" y="0"/>
                </a:lnTo>
                <a:lnTo>
                  <a:pt x="1111334" y="966861"/>
                </a:lnTo>
                <a:lnTo>
                  <a:pt x="0" y="9668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203626" y="3272297"/>
            <a:ext cx="1289148" cy="966861"/>
          </a:xfrm>
          <a:custGeom>
            <a:avLst/>
            <a:gdLst/>
            <a:ahLst/>
            <a:cxnLst/>
            <a:rect r="r" b="b" t="t" l="l"/>
            <a:pathLst>
              <a:path h="966861" w="1289148">
                <a:moveTo>
                  <a:pt x="0" y="0"/>
                </a:moveTo>
                <a:lnTo>
                  <a:pt x="1289148" y="0"/>
                </a:lnTo>
                <a:lnTo>
                  <a:pt x="1289148" y="966861"/>
                </a:lnTo>
                <a:lnTo>
                  <a:pt x="0" y="966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871758" y="3272297"/>
            <a:ext cx="1137484" cy="966861"/>
          </a:xfrm>
          <a:custGeom>
            <a:avLst/>
            <a:gdLst/>
            <a:ahLst/>
            <a:cxnLst/>
            <a:rect r="r" b="b" t="t" l="l"/>
            <a:pathLst>
              <a:path h="966861" w="1137484">
                <a:moveTo>
                  <a:pt x="0" y="0"/>
                </a:moveTo>
                <a:lnTo>
                  <a:pt x="1137484" y="0"/>
                </a:lnTo>
                <a:lnTo>
                  <a:pt x="1137484" y="966861"/>
                </a:lnTo>
                <a:lnTo>
                  <a:pt x="0" y="9668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529857" y="3272297"/>
            <a:ext cx="1005885" cy="1077734"/>
          </a:xfrm>
          <a:custGeom>
            <a:avLst/>
            <a:gdLst/>
            <a:ahLst/>
            <a:cxnLst/>
            <a:rect r="r" b="b" t="t" l="l"/>
            <a:pathLst>
              <a:path h="1077734" w="1005885">
                <a:moveTo>
                  <a:pt x="0" y="0"/>
                </a:moveTo>
                <a:lnTo>
                  <a:pt x="1005885" y="0"/>
                </a:lnTo>
                <a:lnTo>
                  <a:pt x="1005885" y="1077734"/>
                </a:lnTo>
                <a:lnTo>
                  <a:pt x="0" y="1077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128877" y="3272297"/>
            <a:ext cx="992444" cy="1023139"/>
          </a:xfrm>
          <a:custGeom>
            <a:avLst/>
            <a:gdLst/>
            <a:ahLst/>
            <a:cxnLst/>
            <a:rect r="r" b="b" t="t" l="l"/>
            <a:pathLst>
              <a:path h="1023139" w="992444">
                <a:moveTo>
                  <a:pt x="0" y="0"/>
                </a:moveTo>
                <a:lnTo>
                  <a:pt x="992445" y="0"/>
                </a:lnTo>
                <a:lnTo>
                  <a:pt x="992445" y="1023139"/>
                </a:lnTo>
                <a:lnTo>
                  <a:pt x="0" y="10231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Langkah 6: S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impan dan Lacak Eksperimen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Simpan konfigurasi dan has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il agar eksperimen dapat dibandingkan dan ditelusuri kembali.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57288" y="4387596"/>
            <a:ext cx="1611225" cy="7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 Version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0623" y="4387596"/>
            <a:ext cx="1850555" cy="7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Training Configuration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042587" y="4387596"/>
            <a:ext cx="1611225" cy="7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Experiment Run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4887" y="4387596"/>
            <a:ext cx="1611225" cy="7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Evaluation Result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27187" y="4387596"/>
            <a:ext cx="1611225" cy="7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Artifact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819487" y="4387596"/>
            <a:ext cx="1611225" cy="755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Registry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126604" y="6048375"/>
            <a:ext cx="12034792" cy="1443653"/>
            <a:chOff x="0" y="0"/>
            <a:chExt cx="4715259" cy="56562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715259" cy="565627"/>
            </a:xfrm>
            <a:custGeom>
              <a:avLst/>
              <a:gdLst/>
              <a:ahLst/>
              <a:cxnLst/>
              <a:rect r="r" b="b" t="t" l="l"/>
              <a:pathLst>
                <a:path h="565627" w="4715259">
                  <a:moveTo>
                    <a:pt x="11579" y="0"/>
                  </a:moveTo>
                  <a:lnTo>
                    <a:pt x="4703680" y="0"/>
                  </a:lnTo>
                  <a:cubicBezTo>
                    <a:pt x="4710075" y="0"/>
                    <a:pt x="4715259" y="5184"/>
                    <a:pt x="4715259" y="11579"/>
                  </a:cubicBezTo>
                  <a:lnTo>
                    <a:pt x="4715259" y="554047"/>
                  </a:lnTo>
                  <a:cubicBezTo>
                    <a:pt x="4715259" y="560442"/>
                    <a:pt x="4710075" y="565627"/>
                    <a:pt x="4703680" y="565627"/>
                  </a:cubicBezTo>
                  <a:lnTo>
                    <a:pt x="11579" y="565627"/>
                  </a:lnTo>
                  <a:cubicBezTo>
                    <a:pt x="8508" y="565627"/>
                    <a:pt x="5563" y="564407"/>
                    <a:pt x="3392" y="562235"/>
                  </a:cubicBezTo>
                  <a:cubicBezTo>
                    <a:pt x="1220" y="560064"/>
                    <a:pt x="0" y="557118"/>
                    <a:pt x="0" y="554047"/>
                  </a:cubicBezTo>
                  <a:lnTo>
                    <a:pt x="0" y="11579"/>
                  </a:lnTo>
                  <a:cubicBezTo>
                    <a:pt x="0" y="5184"/>
                    <a:pt x="5184" y="0"/>
                    <a:pt x="11579" y="0"/>
                  </a:cubicBezTo>
                  <a:close/>
                </a:path>
              </a:pathLst>
            </a:custGeom>
            <a:ln w="76200" cap="sq">
              <a:solidFill>
                <a:srgbClr val="121481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715259" cy="584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649656" y="6268790"/>
            <a:ext cx="797267" cy="943511"/>
          </a:xfrm>
          <a:custGeom>
            <a:avLst/>
            <a:gdLst/>
            <a:ahLst/>
            <a:cxnLst/>
            <a:rect r="r" b="b" t="t" l="l"/>
            <a:pathLst>
              <a:path h="943511" w="797267">
                <a:moveTo>
                  <a:pt x="0" y="0"/>
                </a:moveTo>
                <a:lnTo>
                  <a:pt x="797266" y="0"/>
                </a:lnTo>
                <a:lnTo>
                  <a:pt x="797266" y="943511"/>
                </a:lnTo>
                <a:lnTo>
                  <a:pt x="0" y="9435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126604" y="8026839"/>
            <a:ext cx="12034792" cy="1231461"/>
            <a:chOff x="0" y="0"/>
            <a:chExt cx="4715259" cy="4824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15259" cy="482489"/>
            </a:xfrm>
            <a:custGeom>
              <a:avLst/>
              <a:gdLst/>
              <a:ahLst/>
              <a:cxnLst/>
              <a:rect r="r" b="b" t="t" l="l"/>
              <a:pathLst>
                <a:path h="482489" w="4715259">
                  <a:moveTo>
                    <a:pt x="11579" y="0"/>
                  </a:moveTo>
                  <a:lnTo>
                    <a:pt x="4703680" y="0"/>
                  </a:lnTo>
                  <a:cubicBezTo>
                    <a:pt x="4710075" y="0"/>
                    <a:pt x="4715259" y="5184"/>
                    <a:pt x="4715259" y="11579"/>
                  </a:cubicBezTo>
                  <a:lnTo>
                    <a:pt x="4715259" y="470910"/>
                  </a:lnTo>
                  <a:cubicBezTo>
                    <a:pt x="4715259" y="473981"/>
                    <a:pt x="4714039" y="476926"/>
                    <a:pt x="4711867" y="479098"/>
                  </a:cubicBezTo>
                  <a:cubicBezTo>
                    <a:pt x="4709696" y="481269"/>
                    <a:pt x="4706751" y="482489"/>
                    <a:pt x="4703680" y="482489"/>
                  </a:cubicBezTo>
                  <a:lnTo>
                    <a:pt x="11579" y="482489"/>
                  </a:lnTo>
                  <a:cubicBezTo>
                    <a:pt x="5184" y="482489"/>
                    <a:pt x="0" y="477305"/>
                    <a:pt x="0" y="470910"/>
                  </a:cubicBezTo>
                  <a:lnTo>
                    <a:pt x="0" y="11579"/>
                  </a:lnTo>
                  <a:cubicBezTo>
                    <a:pt x="0" y="5184"/>
                    <a:pt x="5184" y="0"/>
                    <a:pt x="11579" y="0"/>
                  </a:cubicBezTo>
                  <a:close/>
                </a:path>
              </a:pathLst>
            </a:custGeom>
            <a:solidFill>
              <a:srgbClr val="CAE8FF">
                <a:alpha val="24706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715259" cy="50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683282" y="8223021"/>
            <a:ext cx="730014" cy="839096"/>
          </a:xfrm>
          <a:custGeom>
            <a:avLst/>
            <a:gdLst/>
            <a:ahLst/>
            <a:cxnLst/>
            <a:rect r="r" b="b" t="t" l="l"/>
            <a:pathLst>
              <a:path h="839096" w="730014">
                <a:moveTo>
                  <a:pt x="0" y="0"/>
                </a:moveTo>
                <a:lnTo>
                  <a:pt x="730014" y="0"/>
                </a:lnTo>
                <a:lnTo>
                  <a:pt x="730014" y="839097"/>
                </a:lnTo>
                <a:lnTo>
                  <a:pt x="0" y="839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773941" y="6218831"/>
            <a:ext cx="3380570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Catatan Penting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73941" y="6631835"/>
            <a:ext cx="10045546" cy="670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4"/>
              </a:lnSpc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Workflow LLMOps pada materi menghubungkan eksperimen dengan kebutuhan </a:t>
            </a:r>
            <a:r>
              <a:rPr lang="en-US" sz="22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tracking, versioning, reproducibility, auditability, dan model registry.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73941" y="8224281"/>
            <a:ext cx="3380570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Hasil: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773941" y="8637285"/>
            <a:ext cx="9904559" cy="33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84"/>
              </a:lnSpc>
              <a:buFont typeface="Arial"/>
              <a:buChar char="•"/>
            </a:pPr>
            <a:r>
              <a:rPr lang="en-US" sz="2200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Eksperimen memiliki rekam jejak yang dapat dibandingkan dan direproduksi.</a:t>
            </a:r>
          </a:p>
        </p:txBody>
      </p:sp>
    </p:spTree>
  </p:cSld>
  <p:clrMapOvr>
    <a:masterClrMapping/>
  </p:clrMapOvr>
  <p:transition spd="med">
    <p:wipe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705068" y="303030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075595" y="504592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5289602" y="59031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3" y="0"/>
                </a:moveTo>
                <a:lnTo>
                  <a:pt x="0" y="0"/>
                </a:lnTo>
                <a:lnTo>
                  <a:pt x="0" y="708131"/>
                </a:lnTo>
                <a:lnTo>
                  <a:pt x="5780663" y="708131"/>
                </a:lnTo>
                <a:lnTo>
                  <a:pt x="578066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6013812" y="858657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2"/>
                </a:moveTo>
                <a:lnTo>
                  <a:pt x="5780662" y="708132"/>
                </a:lnTo>
                <a:lnTo>
                  <a:pt x="5780662" y="0"/>
                </a:lnTo>
                <a:lnTo>
                  <a:pt x="0" y="0"/>
                </a:lnTo>
                <a:lnTo>
                  <a:pt x="0" y="70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38774" y="6751494"/>
            <a:ext cx="15410452" cy="1743755"/>
            <a:chOff x="0" y="0"/>
            <a:chExt cx="6037850" cy="6832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37850" cy="683207"/>
            </a:xfrm>
            <a:custGeom>
              <a:avLst/>
              <a:gdLst/>
              <a:ahLst/>
              <a:cxnLst/>
              <a:rect r="r" b="b" t="t" l="l"/>
              <a:pathLst>
                <a:path h="683207" w="6037850">
                  <a:moveTo>
                    <a:pt x="9043" y="0"/>
                  </a:moveTo>
                  <a:lnTo>
                    <a:pt x="6028808" y="0"/>
                  </a:lnTo>
                  <a:cubicBezTo>
                    <a:pt x="6031206" y="0"/>
                    <a:pt x="6033506" y="953"/>
                    <a:pt x="6035202" y="2649"/>
                  </a:cubicBezTo>
                  <a:cubicBezTo>
                    <a:pt x="6036898" y="4344"/>
                    <a:pt x="6037850" y="6645"/>
                    <a:pt x="6037850" y="9043"/>
                  </a:cubicBezTo>
                  <a:lnTo>
                    <a:pt x="6037850" y="674164"/>
                  </a:lnTo>
                  <a:cubicBezTo>
                    <a:pt x="6037850" y="679159"/>
                    <a:pt x="6033802" y="683207"/>
                    <a:pt x="6028808" y="683207"/>
                  </a:cubicBezTo>
                  <a:lnTo>
                    <a:pt x="9043" y="683207"/>
                  </a:lnTo>
                  <a:cubicBezTo>
                    <a:pt x="4049" y="683207"/>
                    <a:pt x="0" y="679159"/>
                    <a:pt x="0" y="674164"/>
                  </a:cubicBezTo>
                  <a:lnTo>
                    <a:pt x="0" y="9043"/>
                  </a:lnTo>
                  <a:cubicBezTo>
                    <a:pt x="0" y="4049"/>
                    <a:pt x="4049" y="0"/>
                    <a:pt x="9043" y="0"/>
                  </a:cubicBezTo>
                  <a:close/>
                </a:path>
              </a:pathLst>
            </a:custGeom>
            <a:ln w="76200" cap="sq">
              <a:solidFill>
                <a:srgbClr val="121481">
                  <a:alpha val="24706"/>
                </a:srgbClr>
              </a:solidFill>
              <a:prstDash val="dash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037850" cy="702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895656" y="2712045"/>
            <a:ext cx="4297535" cy="3696549"/>
            <a:chOff x="0" y="0"/>
            <a:chExt cx="5730047" cy="4928732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730047" cy="4928732"/>
              <a:chOff x="0" y="0"/>
              <a:chExt cx="1683784" cy="144831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683784" cy="1448316"/>
              </a:xfrm>
              <a:custGeom>
                <a:avLst/>
                <a:gdLst/>
                <a:ahLst/>
                <a:cxnLst/>
                <a:rect r="r" b="b" t="t" l="l"/>
                <a:pathLst>
                  <a:path h="1448316" w="1683784">
                    <a:moveTo>
                      <a:pt x="86471" y="0"/>
                    </a:moveTo>
                    <a:lnTo>
                      <a:pt x="1597313" y="0"/>
                    </a:lnTo>
                    <a:cubicBezTo>
                      <a:pt x="1620247" y="0"/>
                      <a:pt x="1642241" y="9110"/>
                      <a:pt x="1658457" y="25327"/>
                    </a:cubicBezTo>
                    <a:cubicBezTo>
                      <a:pt x="1674674" y="41543"/>
                      <a:pt x="1683784" y="63537"/>
                      <a:pt x="1683784" y="86471"/>
                    </a:cubicBezTo>
                    <a:lnTo>
                      <a:pt x="1683784" y="1361845"/>
                    </a:lnTo>
                    <a:cubicBezTo>
                      <a:pt x="1683784" y="1409602"/>
                      <a:pt x="1645070" y="1448316"/>
                      <a:pt x="1597313" y="1448316"/>
                    </a:cubicBezTo>
                    <a:lnTo>
                      <a:pt x="86471" y="1448316"/>
                    </a:lnTo>
                    <a:cubicBezTo>
                      <a:pt x="63537" y="1448316"/>
                      <a:pt x="41543" y="1439206"/>
                      <a:pt x="25327" y="1422990"/>
                    </a:cubicBezTo>
                    <a:cubicBezTo>
                      <a:pt x="9110" y="1406773"/>
                      <a:pt x="0" y="1384779"/>
                      <a:pt x="0" y="1361845"/>
                    </a:cubicBezTo>
                    <a:lnTo>
                      <a:pt x="0" y="86471"/>
                    </a:lnTo>
                    <a:cubicBezTo>
                      <a:pt x="0" y="63537"/>
                      <a:pt x="9110" y="41543"/>
                      <a:pt x="25327" y="25327"/>
                    </a:cubicBezTo>
                    <a:cubicBezTo>
                      <a:pt x="41543" y="9110"/>
                      <a:pt x="63537" y="0"/>
                      <a:pt x="86471" y="0"/>
                    </a:cubicBezTo>
                    <a:close/>
                  </a:path>
                </a:pathLst>
              </a:custGeom>
              <a:solidFill>
                <a:srgbClr val="DB2229">
                  <a:alpha val="24706"/>
                </a:srgbClr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1683784" cy="14673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50377" y="672748"/>
              <a:ext cx="4829292" cy="677329"/>
              <a:chOff x="0" y="0"/>
              <a:chExt cx="4829292" cy="677329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829228" cy="677282"/>
              </a:xfrm>
              <a:custGeom>
                <a:avLst/>
                <a:gdLst/>
                <a:ahLst/>
                <a:cxnLst/>
                <a:rect r="r" b="b" t="t" l="l"/>
                <a:pathLst>
                  <a:path h="677282" w="4829228">
                    <a:moveTo>
                      <a:pt x="0" y="93785"/>
                    </a:moveTo>
                    <a:cubicBezTo>
                      <a:pt x="0" y="42047"/>
                      <a:pt x="43072" y="0"/>
                      <a:pt x="96072" y="0"/>
                    </a:cubicBezTo>
                    <a:lnTo>
                      <a:pt x="4733156" y="0"/>
                    </a:lnTo>
                    <a:cubicBezTo>
                      <a:pt x="4786156" y="0"/>
                      <a:pt x="4829228" y="42047"/>
                      <a:pt x="4829228" y="93785"/>
                    </a:cubicBezTo>
                    <a:lnTo>
                      <a:pt x="4829228" y="583497"/>
                    </a:lnTo>
                    <a:cubicBezTo>
                      <a:pt x="4829228" y="635235"/>
                      <a:pt x="4786156" y="677282"/>
                      <a:pt x="4733156" y="677282"/>
                    </a:cubicBezTo>
                    <a:lnTo>
                      <a:pt x="96072" y="677282"/>
                    </a:lnTo>
                    <a:cubicBezTo>
                      <a:pt x="43072" y="677282"/>
                      <a:pt x="0" y="635235"/>
                      <a:pt x="0" y="583497"/>
                    </a:cubicBezTo>
                    <a:close/>
                  </a:path>
                </a:pathLst>
              </a:custGeom>
              <a:solidFill>
                <a:srgbClr val="DB2229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674252" y="760587"/>
              <a:ext cx="438154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Jika terjadi overfitting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85722" y="1929810"/>
              <a:ext cx="3758602" cy="22245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84"/>
                </a:lnSpc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Evaluasi kembali: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juml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ah epoch,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apasitas adapter,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dan konfigurasi training.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094808" y="2712045"/>
            <a:ext cx="4297535" cy="3696549"/>
            <a:chOff x="0" y="0"/>
            <a:chExt cx="5730047" cy="492873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730047" cy="4928732"/>
              <a:chOff x="0" y="0"/>
              <a:chExt cx="1683784" cy="144831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683784" cy="1448316"/>
              </a:xfrm>
              <a:custGeom>
                <a:avLst/>
                <a:gdLst/>
                <a:ahLst/>
                <a:cxnLst/>
                <a:rect r="r" b="b" t="t" l="l"/>
                <a:pathLst>
                  <a:path h="1448316" w="1683784">
                    <a:moveTo>
                      <a:pt x="86471" y="0"/>
                    </a:moveTo>
                    <a:lnTo>
                      <a:pt x="1597313" y="0"/>
                    </a:lnTo>
                    <a:cubicBezTo>
                      <a:pt x="1620247" y="0"/>
                      <a:pt x="1642241" y="9110"/>
                      <a:pt x="1658457" y="25327"/>
                    </a:cubicBezTo>
                    <a:cubicBezTo>
                      <a:pt x="1674674" y="41543"/>
                      <a:pt x="1683784" y="63537"/>
                      <a:pt x="1683784" y="86471"/>
                    </a:cubicBezTo>
                    <a:lnTo>
                      <a:pt x="1683784" y="1361845"/>
                    </a:lnTo>
                    <a:cubicBezTo>
                      <a:pt x="1683784" y="1409602"/>
                      <a:pt x="1645070" y="1448316"/>
                      <a:pt x="1597313" y="1448316"/>
                    </a:cubicBezTo>
                    <a:lnTo>
                      <a:pt x="86471" y="1448316"/>
                    </a:lnTo>
                    <a:cubicBezTo>
                      <a:pt x="63537" y="1448316"/>
                      <a:pt x="41543" y="1439206"/>
                      <a:pt x="25327" y="1422990"/>
                    </a:cubicBezTo>
                    <a:cubicBezTo>
                      <a:pt x="9110" y="1406773"/>
                      <a:pt x="0" y="1384779"/>
                      <a:pt x="0" y="1361845"/>
                    </a:cubicBezTo>
                    <a:lnTo>
                      <a:pt x="0" y="86471"/>
                    </a:lnTo>
                    <a:cubicBezTo>
                      <a:pt x="0" y="63537"/>
                      <a:pt x="9110" y="41543"/>
                      <a:pt x="25327" y="25327"/>
                    </a:cubicBezTo>
                    <a:cubicBezTo>
                      <a:pt x="41543" y="9110"/>
                      <a:pt x="63537" y="0"/>
                      <a:pt x="86471" y="0"/>
                    </a:cubicBezTo>
                    <a:close/>
                  </a:path>
                </a:pathLst>
              </a:custGeom>
              <a:solidFill>
                <a:srgbClr val="F0C60E">
                  <a:alpha val="24706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683784" cy="146736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50377" y="431448"/>
              <a:ext cx="4829292" cy="1159929"/>
              <a:chOff x="0" y="0"/>
              <a:chExt cx="4829292" cy="115992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829228" cy="1159849"/>
              </a:xfrm>
              <a:custGeom>
                <a:avLst/>
                <a:gdLst/>
                <a:ahLst/>
                <a:cxnLst/>
                <a:rect r="r" b="b" t="t" l="l"/>
                <a:pathLst>
                  <a:path h="1159849" w="4829228">
                    <a:moveTo>
                      <a:pt x="0" y="160607"/>
                    </a:moveTo>
                    <a:cubicBezTo>
                      <a:pt x="0" y="72005"/>
                      <a:pt x="43072" y="0"/>
                      <a:pt x="96072" y="0"/>
                    </a:cubicBezTo>
                    <a:lnTo>
                      <a:pt x="4733156" y="0"/>
                    </a:lnTo>
                    <a:cubicBezTo>
                      <a:pt x="4786156" y="0"/>
                      <a:pt x="4829228" y="72005"/>
                      <a:pt x="4829228" y="160607"/>
                    </a:cubicBezTo>
                    <a:lnTo>
                      <a:pt x="4829228" y="999242"/>
                    </a:lnTo>
                    <a:cubicBezTo>
                      <a:pt x="4829228" y="1087843"/>
                      <a:pt x="4786156" y="1159849"/>
                      <a:pt x="4733156" y="1159849"/>
                    </a:cubicBezTo>
                    <a:lnTo>
                      <a:pt x="96072" y="1159849"/>
                    </a:lnTo>
                    <a:cubicBezTo>
                      <a:pt x="43072" y="1159849"/>
                      <a:pt x="0" y="1087843"/>
                      <a:pt x="0" y="999242"/>
                    </a:cubicBezTo>
                    <a:close/>
                  </a:path>
                </a:pathLst>
              </a:custGeom>
              <a:solidFill>
                <a:srgbClr val="DA943D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674252" y="519287"/>
              <a:ext cx="4381542" cy="974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Jika model masih underfitting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913725" y="1828210"/>
              <a:ext cx="3902598" cy="26690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84"/>
                </a:lnSpc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Evaluasi kembali: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kapasitas adapter,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ta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rget modul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es,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</a:t>
              </a: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ormat dataset,</a:t>
              </a:r>
            </a:p>
            <a:p>
              <a:pPr algn="l" marL="474981" indent="-237491" lvl="1">
                <a:lnSpc>
                  <a:spcPts val="2684"/>
                </a:lnSpc>
                <a:buFont typeface="Arial"/>
                <a:buChar char="•"/>
              </a:pPr>
              <a:r>
                <a:rPr lang="en-US" sz="22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dan konfigurasi training.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Tek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nik &amp; Trik: Jika Hasil Belum Sesuai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924460"/>
            <a:ext cx="16230600" cy="440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nakan hasil monitoring dan evaluasi sebagai dasar untuk iterasi berikutnya.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438774" y="8780702"/>
            <a:ext cx="15410452" cy="955197"/>
            <a:chOff x="0" y="0"/>
            <a:chExt cx="20547269" cy="1273596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0547269" cy="1273596"/>
              <a:chOff x="0" y="0"/>
              <a:chExt cx="7874061" cy="48806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7874061" cy="488063"/>
              </a:xfrm>
              <a:custGeom>
                <a:avLst/>
                <a:gdLst/>
                <a:ahLst/>
                <a:cxnLst/>
                <a:rect r="r" b="b" t="t" l="l"/>
                <a:pathLst>
                  <a:path h="488063" w="7874061">
                    <a:moveTo>
                      <a:pt x="9043" y="0"/>
                    </a:moveTo>
                    <a:lnTo>
                      <a:pt x="7865018" y="0"/>
                    </a:lnTo>
                    <a:cubicBezTo>
                      <a:pt x="7870013" y="0"/>
                      <a:pt x="7874061" y="4049"/>
                      <a:pt x="7874061" y="9043"/>
                    </a:cubicBezTo>
                    <a:lnTo>
                      <a:pt x="7874061" y="479021"/>
                    </a:lnTo>
                    <a:cubicBezTo>
                      <a:pt x="7874061" y="484015"/>
                      <a:pt x="7870013" y="488063"/>
                      <a:pt x="7865018" y="488063"/>
                    </a:cubicBezTo>
                    <a:lnTo>
                      <a:pt x="9043" y="488063"/>
                    </a:lnTo>
                    <a:cubicBezTo>
                      <a:pt x="4049" y="488063"/>
                      <a:pt x="0" y="484015"/>
                      <a:pt x="0" y="479021"/>
                    </a:cubicBezTo>
                    <a:lnTo>
                      <a:pt x="0" y="9043"/>
                    </a:lnTo>
                    <a:cubicBezTo>
                      <a:pt x="0" y="4049"/>
                      <a:pt x="4049" y="0"/>
                      <a:pt x="9043" y="0"/>
                    </a:cubicBezTo>
                    <a:close/>
                  </a:path>
                </a:pathLst>
              </a:custGeom>
              <a:solidFill>
                <a:srgbClr val="CAE8FF">
                  <a:alpha val="24706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19050"/>
                <a:ext cx="7874061" cy="5071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Freeform 31" id="31"/>
            <p:cNvSpPr/>
            <p:nvPr/>
          </p:nvSpPr>
          <p:spPr>
            <a:xfrm flipH="false" flipV="false" rot="0">
              <a:off x="555853" y="213321"/>
              <a:ext cx="813075" cy="846953"/>
            </a:xfrm>
            <a:custGeom>
              <a:avLst/>
              <a:gdLst/>
              <a:ahLst/>
              <a:cxnLst/>
              <a:rect r="r" b="b" t="t" l="l"/>
              <a:pathLst>
                <a:path h="846953" w="813075">
                  <a:moveTo>
                    <a:pt x="0" y="0"/>
                  </a:moveTo>
                  <a:lnTo>
                    <a:pt x="813075" y="0"/>
                  </a:lnTo>
                  <a:lnTo>
                    <a:pt x="813075" y="846953"/>
                  </a:lnTo>
                  <a:lnTo>
                    <a:pt x="0" y="8469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 rot="0">
              <a:off x="1698327" y="421533"/>
              <a:ext cx="18293089" cy="459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4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Fine-tuning bukan proses sekali jalan. Hasil evaluasi digunakan untuk menentukan eksperimen berikutnya</a:t>
              </a:r>
              <a:r>
                <a:rPr lang="en-US" sz="2400">
                  <a:solidFill>
                    <a:srgbClr val="16224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156062" y="7513398"/>
            <a:ext cx="2770514" cy="706890"/>
            <a:chOff x="0" y="0"/>
            <a:chExt cx="3694019" cy="94252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3694019" cy="942520"/>
              <a:chOff x="0" y="0"/>
              <a:chExt cx="1085494" cy="276961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85494" cy="276961"/>
              </a:xfrm>
              <a:custGeom>
                <a:avLst/>
                <a:gdLst/>
                <a:ahLst/>
                <a:cxnLst/>
                <a:rect r="r" b="b" t="t" l="l"/>
                <a:pathLst>
                  <a:path h="276961" w="1085494">
                    <a:moveTo>
                      <a:pt x="67066" y="0"/>
                    </a:moveTo>
                    <a:lnTo>
                      <a:pt x="1018428" y="0"/>
                    </a:lnTo>
                    <a:cubicBezTo>
                      <a:pt x="1036215" y="0"/>
                      <a:pt x="1053273" y="7066"/>
                      <a:pt x="1065851" y="19643"/>
                    </a:cubicBezTo>
                    <a:cubicBezTo>
                      <a:pt x="1078428" y="32220"/>
                      <a:pt x="1085494" y="49279"/>
                      <a:pt x="1085494" y="67066"/>
                    </a:cubicBezTo>
                    <a:lnTo>
                      <a:pt x="1085494" y="209895"/>
                    </a:lnTo>
                    <a:cubicBezTo>
                      <a:pt x="1085494" y="246935"/>
                      <a:pt x="1055467" y="276961"/>
                      <a:pt x="1018428" y="276961"/>
                    </a:cubicBezTo>
                    <a:lnTo>
                      <a:pt x="67066" y="276961"/>
                    </a:lnTo>
                    <a:cubicBezTo>
                      <a:pt x="30026" y="276961"/>
                      <a:pt x="0" y="246935"/>
                      <a:pt x="0" y="209895"/>
                    </a:cubicBezTo>
                    <a:lnTo>
                      <a:pt x="0" y="67066"/>
                    </a:lnTo>
                    <a:cubicBezTo>
                      <a:pt x="0" y="49279"/>
                      <a:pt x="7066" y="32220"/>
                      <a:pt x="19643" y="19643"/>
                    </a:cubicBezTo>
                    <a:cubicBezTo>
                      <a:pt x="32220" y="7066"/>
                      <a:pt x="49279" y="0"/>
                      <a:pt x="67066" y="0"/>
                    </a:cubicBezTo>
                    <a:close/>
                  </a:path>
                </a:pathLst>
              </a:custGeom>
              <a:solidFill>
                <a:srgbClr val="CAE8FF">
                  <a:alpha val="51765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19050"/>
                <a:ext cx="1085494" cy="2960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234882" y="152287"/>
              <a:ext cx="966585" cy="637946"/>
            </a:xfrm>
            <a:custGeom>
              <a:avLst/>
              <a:gdLst/>
              <a:ahLst/>
              <a:cxnLst/>
              <a:rect r="r" b="b" t="t" l="l"/>
              <a:pathLst>
                <a:path h="637946" w="966585">
                  <a:moveTo>
                    <a:pt x="0" y="0"/>
                  </a:moveTo>
                  <a:lnTo>
                    <a:pt x="966585" y="0"/>
                  </a:lnTo>
                  <a:lnTo>
                    <a:pt x="966585" y="637946"/>
                  </a:lnTo>
                  <a:lnTo>
                    <a:pt x="0" y="637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 rot="0">
              <a:off x="1397740" y="175349"/>
              <a:ext cx="2061396" cy="534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Konfigurasi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378982" y="7513398"/>
            <a:ext cx="2238319" cy="706890"/>
            <a:chOff x="0" y="0"/>
            <a:chExt cx="2984426" cy="94252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2984426" cy="942520"/>
              <a:chOff x="0" y="0"/>
              <a:chExt cx="876979" cy="276961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76979" cy="276961"/>
              </a:xfrm>
              <a:custGeom>
                <a:avLst/>
                <a:gdLst/>
                <a:ahLst/>
                <a:cxnLst/>
                <a:rect r="r" b="b" t="t" l="l"/>
                <a:pathLst>
                  <a:path h="276961" w="876979">
                    <a:moveTo>
                      <a:pt x="83011" y="0"/>
                    </a:moveTo>
                    <a:lnTo>
                      <a:pt x="793967" y="0"/>
                    </a:lnTo>
                    <a:cubicBezTo>
                      <a:pt x="815983" y="0"/>
                      <a:pt x="837098" y="8746"/>
                      <a:pt x="852665" y="24313"/>
                    </a:cubicBezTo>
                    <a:cubicBezTo>
                      <a:pt x="868233" y="39881"/>
                      <a:pt x="876979" y="60995"/>
                      <a:pt x="876979" y="83011"/>
                    </a:cubicBezTo>
                    <a:lnTo>
                      <a:pt x="876979" y="193950"/>
                    </a:lnTo>
                    <a:cubicBezTo>
                      <a:pt x="876979" y="215966"/>
                      <a:pt x="868233" y="237080"/>
                      <a:pt x="852665" y="252648"/>
                    </a:cubicBezTo>
                    <a:cubicBezTo>
                      <a:pt x="837098" y="268215"/>
                      <a:pt x="815983" y="276961"/>
                      <a:pt x="793967" y="276961"/>
                    </a:cubicBezTo>
                    <a:lnTo>
                      <a:pt x="83011" y="276961"/>
                    </a:lnTo>
                    <a:cubicBezTo>
                      <a:pt x="60995" y="276961"/>
                      <a:pt x="39881" y="268215"/>
                      <a:pt x="24313" y="252648"/>
                    </a:cubicBezTo>
                    <a:cubicBezTo>
                      <a:pt x="8746" y="237080"/>
                      <a:pt x="0" y="215966"/>
                      <a:pt x="0" y="193950"/>
                    </a:cubicBezTo>
                    <a:lnTo>
                      <a:pt x="0" y="83011"/>
                    </a:lnTo>
                    <a:cubicBezTo>
                      <a:pt x="0" y="60995"/>
                      <a:pt x="8746" y="39881"/>
                      <a:pt x="24313" y="24313"/>
                    </a:cubicBezTo>
                    <a:cubicBezTo>
                      <a:pt x="39881" y="8746"/>
                      <a:pt x="60995" y="0"/>
                      <a:pt x="83011" y="0"/>
                    </a:cubicBezTo>
                    <a:close/>
                  </a:path>
                </a:pathLst>
              </a:custGeom>
              <a:solidFill>
                <a:srgbClr val="CAE8FF">
                  <a:alpha val="51765"/>
                </a:srgbClr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19050"/>
                <a:ext cx="876979" cy="2960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309022" y="152287"/>
              <a:ext cx="740890" cy="644574"/>
            </a:xfrm>
            <a:custGeom>
              <a:avLst/>
              <a:gdLst/>
              <a:ahLst/>
              <a:cxnLst/>
              <a:rect r="r" b="b" t="t" l="l"/>
              <a:pathLst>
                <a:path h="644574" w="740890">
                  <a:moveTo>
                    <a:pt x="0" y="0"/>
                  </a:moveTo>
                  <a:lnTo>
                    <a:pt x="740890" y="0"/>
                  </a:lnTo>
                  <a:lnTo>
                    <a:pt x="740890" y="644574"/>
                  </a:lnTo>
                  <a:lnTo>
                    <a:pt x="0" y="6445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 rot="0">
              <a:off x="1240412" y="175349"/>
              <a:ext cx="1434991" cy="534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Training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064976" y="7515884"/>
            <a:ext cx="2627151" cy="706890"/>
            <a:chOff x="0" y="0"/>
            <a:chExt cx="3502868" cy="94252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3502868" cy="942520"/>
              <a:chOff x="0" y="0"/>
              <a:chExt cx="1029324" cy="276961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029324" cy="276961"/>
              </a:xfrm>
              <a:custGeom>
                <a:avLst/>
                <a:gdLst/>
                <a:ahLst/>
                <a:cxnLst/>
                <a:rect r="r" b="b" t="t" l="l"/>
                <a:pathLst>
                  <a:path h="276961" w="1029324">
                    <a:moveTo>
                      <a:pt x="70725" y="0"/>
                    </a:moveTo>
                    <a:lnTo>
                      <a:pt x="958599" y="0"/>
                    </a:lnTo>
                    <a:cubicBezTo>
                      <a:pt x="977356" y="0"/>
                      <a:pt x="995345" y="7451"/>
                      <a:pt x="1008609" y="20715"/>
                    </a:cubicBezTo>
                    <a:cubicBezTo>
                      <a:pt x="1021873" y="33979"/>
                      <a:pt x="1029324" y="51968"/>
                      <a:pt x="1029324" y="70725"/>
                    </a:cubicBezTo>
                    <a:lnTo>
                      <a:pt x="1029324" y="206236"/>
                    </a:lnTo>
                    <a:cubicBezTo>
                      <a:pt x="1029324" y="224993"/>
                      <a:pt x="1021873" y="242983"/>
                      <a:pt x="1008609" y="256246"/>
                    </a:cubicBezTo>
                    <a:cubicBezTo>
                      <a:pt x="995345" y="269510"/>
                      <a:pt x="977356" y="276961"/>
                      <a:pt x="958599" y="276961"/>
                    </a:cubicBezTo>
                    <a:lnTo>
                      <a:pt x="70725" y="276961"/>
                    </a:lnTo>
                    <a:cubicBezTo>
                      <a:pt x="51968" y="276961"/>
                      <a:pt x="33979" y="269510"/>
                      <a:pt x="20715" y="256246"/>
                    </a:cubicBezTo>
                    <a:cubicBezTo>
                      <a:pt x="7451" y="242983"/>
                      <a:pt x="0" y="224993"/>
                      <a:pt x="0" y="206236"/>
                    </a:cubicBezTo>
                    <a:lnTo>
                      <a:pt x="0" y="70725"/>
                    </a:lnTo>
                    <a:cubicBezTo>
                      <a:pt x="0" y="51968"/>
                      <a:pt x="7451" y="33979"/>
                      <a:pt x="20715" y="20715"/>
                    </a:cubicBezTo>
                    <a:cubicBezTo>
                      <a:pt x="33979" y="7451"/>
                      <a:pt x="51968" y="0"/>
                      <a:pt x="70725" y="0"/>
                    </a:cubicBezTo>
                    <a:close/>
                  </a:path>
                </a:pathLst>
              </a:custGeom>
              <a:solidFill>
                <a:srgbClr val="CAE8FF">
                  <a:alpha val="51765"/>
                </a:srgbClr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19050"/>
                <a:ext cx="1029324" cy="2960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Freeform 49" id="49"/>
            <p:cNvSpPr/>
            <p:nvPr/>
          </p:nvSpPr>
          <p:spPr>
            <a:xfrm flipH="false" flipV="false" rot="0">
              <a:off x="306193" y="155601"/>
              <a:ext cx="828501" cy="637946"/>
            </a:xfrm>
            <a:custGeom>
              <a:avLst/>
              <a:gdLst/>
              <a:ahLst/>
              <a:cxnLst/>
              <a:rect r="r" b="b" t="t" l="l"/>
              <a:pathLst>
                <a:path h="637946" w="828501">
                  <a:moveTo>
                    <a:pt x="0" y="0"/>
                  </a:moveTo>
                  <a:lnTo>
                    <a:pt x="828501" y="0"/>
                  </a:lnTo>
                  <a:lnTo>
                    <a:pt x="828501" y="637946"/>
                  </a:lnTo>
                  <a:lnTo>
                    <a:pt x="0" y="637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 rot="0">
              <a:off x="1325194" y="172035"/>
              <a:ext cx="1871481" cy="534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Monitoring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139802" y="7513398"/>
            <a:ext cx="2374029" cy="706890"/>
            <a:chOff x="0" y="0"/>
            <a:chExt cx="3165372" cy="942520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3165372" cy="942520"/>
              <a:chOff x="0" y="0"/>
              <a:chExt cx="930150" cy="27696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30150" cy="276961"/>
              </a:xfrm>
              <a:custGeom>
                <a:avLst/>
                <a:gdLst/>
                <a:ahLst/>
                <a:cxnLst/>
                <a:rect r="r" b="b" t="t" l="l"/>
                <a:pathLst>
                  <a:path h="276961" w="930150">
                    <a:moveTo>
                      <a:pt x="78266" y="0"/>
                    </a:moveTo>
                    <a:lnTo>
                      <a:pt x="851884" y="0"/>
                    </a:lnTo>
                    <a:cubicBezTo>
                      <a:pt x="895109" y="0"/>
                      <a:pt x="930150" y="35041"/>
                      <a:pt x="930150" y="78266"/>
                    </a:cubicBezTo>
                    <a:lnTo>
                      <a:pt x="930150" y="198695"/>
                    </a:lnTo>
                    <a:cubicBezTo>
                      <a:pt x="930150" y="219452"/>
                      <a:pt x="921904" y="239360"/>
                      <a:pt x="907227" y="254037"/>
                    </a:cubicBezTo>
                    <a:cubicBezTo>
                      <a:pt x="892549" y="268715"/>
                      <a:pt x="872641" y="276961"/>
                      <a:pt x="851884" y="276961"/>
                    </a:cubicBezTo>
                    <a:lnTo>
                      <a:pt x="78266" y="276961"/>
                    </a:lnTo>
                    <a:cubicBezTo>
                      <a:pt x="35041" y="276961"/>
                      <a:pt x="0" y="241920"/>
                      <a:pt x="0" y="198695"/>
                    </a:cubicBezTo>
                    <a:lnTo>
                      <a:pt x="0" y="78266"/>
                    </a:lnTo>
                    <a:cubicBezTo>
                      <a:pt x="0" y="35041"/>
                      <a:pt x="35041" y="0"/>
                      <a:pt x="78266" y="0"/>
                    </a:cubicBezTo>
                    <a:close/>
                  </a:path>
                </a:pathLst>
              </a:custGeom>
              <a:solidFill>
                <a:srgbClr val="CAE8FF">
                  <a:alpha val="51765"/>
                </a:srgbClr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19050"/>
                <a:ext cx="930150" cy="2960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Freeform 55" id="55"/>
            <p:cNvSpPr/>
            <p:nvPr/>
          </p:nvSpPr>
          <p:spPr>
            <a:xfrm flipH="false" flipV="false" rot="0">
              <a:off x="356062" y="152861"/>
              <a:ext cx="563566" cy="636798"/>
            </a:xfrm>
            <a:custGeom>
              <a:avLst/>
              <a:gdLst/>
              <a:ahLst/>
              <a:cxnLst/>
              <a:rect r="r" b="b" t="t" l="l"/>
              <a:pathLst>
                <a:path h="636798" w="563566">
                  <a:moveTo>
                    <a:pt x="0" y="0"/>
                  </a:moveTo>
                  <a:lnTo>
                    <a:pt x="563566" y="0"/>
                  </a:lnTo>
                  <a:lnTo>
                    <a:pt x="563566" y="636798"/>
                  </a:lnTo>
                  <a:lnTo>
                    <a:pt x="0" y="636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 rot="0">
              <a:off x="1110128" y="172035"/>
              <a:ext cx="1871481" cy="534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61507" y="7513398"/>
            <a:ext cx="2170432" cy="706890"/>
            <a:chOff x="0" y="0"/>
            <a:chExt cx="2893909" cy="942520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2893909" cy="942520"/>
              <a:chOff x="0" y="0"/>
              <a:chExt cx="850380" cy="276961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50380" cy="276961"/>
              </a:xfrm>
              <a:custGeom>
                <a:avLst/>
                <a:gdLst/>
                <a:ahLst/>
                <a:cxnLst/>
                <a:rect r="r" b="b" t="t" l="l"/>
                <a:pathLst>
                  <a:path h="276961" w="850380">
                    <a:moveTo>
                      <a:pt x="85608" y="0"/>
                    </a:moveTo>
                    <a:lnTo>
                      <a:pt x="764772" y="0"/>
                    </a:lnTo>
                    <a:cubicBezTo>
                      <a:pt x="787477" y="0"/>
                      <a:pt x="809252" y="9019"/>
                      <a:pt x="825306" y="25074"/>
                    </a:cubicBezTo>
                    <a:cubicBezTo>
                      <a:pt x="841361" y="41129"/>
                      <a:pt x="850380" y="62903"/>
                      <a:pt x="850380" y="85608"/>
                    </a:cubicBezTo>
                    <a:lnTo>
                      <a:pt x="850380" y="191353"/>
                    </a:lnTo>
                    <a:cubicBezTo>
                      <a:pt x="850380" y="238633"/>
                      <a:pt x="812052" y="276961"/>
                      <a:pt x="764772" y="276961"/>
                    </a:cubicBezTo>
                    <a:lnTo>
                      <a:pt x="85608" y="276961"/>
                    </a:lnTo>
                    <a:cubicBezTo>
                      <a:pt x="38328" y="276961"/>
                      <a:pt x="0" y="238633"/>
                      <a:pt x="0" y="191353"/>
                    </a:cubicBezTo>
                    <a:lnTo>
                      <a:pt x="0" y="85608"/>
                    </a:lnTo>
                    <a:cubicBezTo>
                      <a:pt x="0" y="38328"/>
                      <a:pt x="38328" y="0"/>
                      <a:pt x="85608" y="0"/>
                    </a:cubicBezTo>
                    <a:close/>
                  </a:path>
                </a:pathLst>
              </a:custGeom>
              <a:solidFill>
                <a:srgbClr val="CAE8FF">
                  <a:alpha val="51765"/>
                </a:srgbClr>
              </a:solidFill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19050"/>
                <a:ext cx="850380" cy="2960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8"/>
                  </a:lnSpc>
                </a:pPr>
              </a:p>
            </p:txBody>
          </p:sp>
        </p:grpSp>
        <p:sp>
          <p:nvSpPr>
            <p:cNvPr name="Freeform 61" id="61"/>
            <p:cNvSpPr/>
            <p:nvPr/>
          </p:nvSpPr>
          <p:spPr>
            <a:xfrm flipH="false" flipV="false" rot="0">
              <a:off x="330761" y="139124"/>
              <a:ext cx="611608" cy="657643"/>
            </a:xfrm>
            <a:custGeom>
              <a:avLst/>
              <a:gdLst/>
              <a:ahLst/>
              <a:cxnLst/>
              <a:rect r="r" b="b" t="t" l="l"/>
              <a:pathLst>
                <a:path h="657643" w="611608">
                  <a:moveTo>
                    <a:pt x="0" y="0"/>
                  </a:moveTo>
                  <a:lnTo>
                    <a:pt x="611608" y="0"/>
                  </a:lnTo>
                  <a:lnTo>
                    <a:pt x="611608" y="657643"/>
                  </a:lnTo>
                  <a:lnTo>
                    <a:pt x="0" y="657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1085289" y="172035"/>
              <a:ext cx="1477859" cy="5346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sz="23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Iteration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7453715" y="6929524"/>
            <a:ext cx="3380570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Prinsip Utama</a:t>
            </a:r>
          </a:p>
        </p:txBody>
      </p:sp>
      <p:sp>
        <p:nvSpPr>
          <p:cNvPr name="AutoShape 64" id="64"/>
          <p:cNvSpPr/>
          <p:nvPr/>
        </p:nvSpPr>
        <p:spPr>
          <a:xfrm flipV="true">
            <a:off x="4961620" y="7866843"/>
            <a:ext cx="417362" cy="60110"/>
          </a:xfrm>
          <a:prstGeom prst="line">
            <a:avLst/>
          </a:pr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5" id="65"/>
          <p:cNvSpPr/>
          <p:nvPr/>
        </p:nvSpPr>
        <p:spPr>
          <a:xfrm>
            <a:off x="7617301" y="7869329"/>
            <a:ext cx="447675" cy="0"/>
          </a:xfrm>
          <a:prstGeom prst="line">
            <a:avLst/>
          </a:pr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6" id="66"/>
          <p:cNvSpPr/>
          <p:nvPr/>
        </p:nvSpPr>
        <p:spPr>
          <a:xfrm flipV="true">
            <a:off x="10749319" y="7866843"/>
            <a:ext cx="390483" cy="68522"/>
          </a:xfrm>
          <a:prstGeom prst="line">
            <a:avLst/>
          </a:pr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7" id="67"/>
          <p:cNvSpPr/>
          <p:nvPr/>
        </p:nvSpPr>
        <p:spPr>
          <a:xfrm>
            <a:off x="13582712" y="7866843"/>
            <a:ext cx="378795" cy="0"/>
          </a:xfrm>
          <a:prstGeom prst="line">
            <a:avLst/>
          </a:prstGeom>
          <a:ln cap="flat" w="38100">
            <a:solidFill>
              <a:srgbClr val="4FC8FE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  <p:transition spd="med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99223" y="284680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0"/>
                </a:moveTo>
                <a:lnTo>
                  <a:pt x="5780663" y="0"/>
                </a:lnTo>
                <a:lnTo>
                  <a:pt x="5780663" y="708131"/>
                </a:lnTo>
                <a:lnTo>
                  <a:pt x="0" y="7081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890331" y="674634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5780662" y="708132"/>
                </a:moveTo>
                <a:lnTo>
                  <a:pt x="0" y="708132"/>
                </a:lnTo>
                <a:lnTo>
                  <a:pt x="0" y="0"/>
                </a:lnTo>
                <a:lnTo>
                  <a:pt x="5780662" y="0"/>
                </a:lnTo>
                <a:lnTo>
                  <a:pt x="5780662" y="70813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4471922" y="992811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1"/>
                </a:moveTo>
                <a:lnTo>
                  <a:pt x="5780663" y="708131"/>
                </a:lnTo>
                <a:lnTo>
                  <a:pt x="5780663" y="0"/>
                </a:lnTo>
                <a:lnTo>
                  <a:pt x="0" y="0"/>
                </a:lnTo>
                <a:lnTo>
                  <a:pt x="0" y="70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7572642" y="638745"/>
            <a:ext cx="5780663" cy="708131"/>
          </a:xfrm>
          <a:custGeom>
            <a:avLst/>
            <a:gdLst/>
            <a:ahLst/>
            <a:cxnLst/>
            <a:rect r="r" b="b" t="t" l="l"/>
            <a:pathLst>
              <a:path h="708131" w="5780663">
                <a:moveTo>
                  <a:pt x="0" y="708131"/>
                </a:moveTo>
                <a:lnTo>
                  <a:pt x="5780663" y="708131"/>
                </a:lnTo>
                <a:lnTo>
                  <a:pt x="5780663" y="0"/>
                </a:lnTo>
                <a:lnTo>
                  <a:pt x="0" y="0"/>
                </a:lnTo>
                <a:lnTo>
                  <a:pt x="0" y="70813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23950"/>
            <a:ext cx="16230600" cy="782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3"/>
              </a:lnSpc>
            </a:pPr>
            <a:r>
              <a:rPr lang="en-US" sz="5799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Satu Siklus Fi</a:t>
            </a:r>
            <a:r>
              <a:rPr lang="en-US" b="true" sz="5799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ne-Tuning LoRA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924460"/>
            <a:ext cx="16230600" cy="869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5"/>
              </a:lnSpc>
            </a:pP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Mulai</a:t>
            </a:r>
            <a:r>
              <a:rPr lang="en-US" sz="2799">
                <a:solidFill>
                  <a:srgbClr val="16224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dari dataset, jalankan eksperimen, evaluasi hasilnya, lalu gunakan temuan tersebut untuk iterasi berikutnya.</a:t>
            </a:r>
          </a:p>
        </p:txBody>
      </p:sp>
      <p:sp>
        <p:nvSpPr>
          <p:cNvPr name="AutoShape 8" id="8"/>
          <p:cNvSpPr/>
          <p:nvPr/>
        </p:nvSpPr>
        <p:spPr>
          <a:xfrm>
            <a:off x="7527280" y="3893821"/>
            <a:ext cx="889080" cy="869208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9533003" y="3875350"/>
            <a:ext cx="1286196" cy="1428268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7527280" y="7751587"/>
            <a:ext cx="889080" cy="1033894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9844037" y="7751587"/>
            <a:ext cx="975162" cy="1015423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10263830" y="6304682"/>
            <a:ext cx="1405803" cy="31849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>
            <a:off x="6676913" y="6323153"/>
            <a:ext cx="850367" cy="0"/>
          </a:xfrm>
          <a:prstGeom prst="line">
            <a:avLst/>
          </a:prstGeom>
          <a:ln cap="flat" w="47625">
            <a:solidFill>
              <a:srgbClr val="8E93A9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7083909" y="4279130"/>
            <a:ext cx="1980248" cy="4114800"/>
          </a:xfrm>
          <a:custGeom>
            <a:avLst/>
            <a:gdLst/>
            <a:ahLst/>
            <a:cxnLst/>
            <a:rect r="r" b="b" t="t" l="l"/>
            <a:pathLst>
              <a:path h="4114800" w="1980248">
                <a:moveTo>
                  <a:pt x="0" y="0"/>
                </a:moveTo>
                <a:lnTo>
                  <a:pt x="1980247" y="0"/>
                </a:lnTo>
                <a:lnTo>
                  <a:pt x="19802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9273706" y="4279130"/>
            <a:ext cx="1980247" cy="4114800"/>
          </a:xfrm>
          <a:custGeom>
            <a:avLst/>
            <a:gdLst/>
            <a:ahLst/>
            <a:cxnLst/>
            <a:rect r="r" b="b" t="t" l="l"/>
            <a:pathLst>
              <a:path h="4114800" w="1980247">
                <a:moveTo>
                  <a:pt x="1980248" y="0"/>
                </a:moveTo>
                <a:lnTo>
                  <a:pt x="0" y="0"/>
                </a:lnTo>
                <a:lnTo>
                  <a:pt x="0" y="4114800"/>
                </a:lnTo>
                <a:lnTo>
                  <a:pt x="1980248" y="4114800"/>
                </a:lnTo>
                <a:lnTo>
                  <a:pt x="198024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074033" y="5241632"/>
            <a:ext cx="2189797" cy="2189797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61165">
            <a:off x="5451000" y="2987670"/>
            <a:ext cx="2076444" cy="1775359"/>
          </a:xfrm>
          <a:custGeom>
            <a:avLst/>
            <a:gdLst/>
            <a:ahLst/>
            <a:cxnLst/>
            <a:rect r="r" b="b" t="t" l="l"/>
            <a:pathLst>
              <a:path h="1775359" w="2076444">
                <a:moveTo>
                  <a:pt x="0" y="0"/>
                </a:moveTo>
                <a:lnTo>
                  <a:pt x="2076444" y="0"/>
                </a:lnTo>
                <a:lnTo>
                  <a:pt x="2076444" y="1775359"/>
                </a:lnTo>
                <a:lnTo>
                  <a:pt x="0" y="177535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688714" y="3216401"/>
            <a:ext cx="1619250" cy="1619250"/>
          </a:xfrm>
          <a:custGeom>
            <a:avLst/>
            <a:gdLst/>
            <a:ahLst/>
            <a:cxnLst/>
            <a:rect r="r" b="b" t="t" l="l"/>
            <a:pathLst>
              <a:path h="1619250" w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7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1" id="21"/>
          <p:cNvGrpSpPr/>
          <p:nvPr/>
        </p:nvGrpSpPr>
        <p:grpSpPr>
          <a:xfrm rot="-5338834">
            <a:off x="5700088" y="3227774"/>
            <a:ext cx="1290021" cy="129002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406" lIns="47406" bIns="47406" rIns="474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61165">
            <a:off x="5451000" y="7879330"/>
            <a:ext cx="2076444" cy="1775359"/>
          </a:xfrm>
          <a:custGeom>
            <a:avLst/>
            <a:gdLst/>
            <a:ahLst/>
            <a:cxnLst/>
            <a:rect r="r" b="b" t="t" l="l"/>
            <a:pathLst>
              <a:path h="1775359" w="2076444">
                <a:moveTo>
                  <a:pt x="0" y="0"/>
                </a:moveTo>
                <a:lnTo>
                  <a:pt x="2076444" y="0"/>
                </a:lnTo>
                <a:lnTo>
                  <a:pt x="2076444" y="1775359"/>
                </a:lnTo>
                <a:lnTo>
                  <a:pt x="0" y="1775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688714" y="8108061"/>
            <a:ext cx="1619250" cy="1619250"/>
          </a:xfrm>
          <a:custGeom>
            <a:avLst/>
            <a:gdLst/>
            <a:ahLst/>
            <a:cxnLst/>
            <a:rect r="r" b="b" t="t" l="l"/>
            <a:pathLst>
              <a:path h="1619250" w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7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-5338834">
            <a:off x="5700088" y="8119434"/>
            <a:ext cx="1290021" cy="1290021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406" lIns="47406" bIns="47406" rIns="474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61165">
            <a:off x="4600634" y="5417002"/>
            <a:ext cx="2076444" cy="1775359"/>
          </a:xfrm>
          <a:custGeom>
            <a:avLst/>
            <a:gdLst/>
            <a:ahLst/>
            <a:cxnLst/>
            <a:rect r="r" b="b" t="t" l="l"/>
            <a:pathLst>
              <a:path h="1775359" w="2076444">
                <a:moveTo>
                  <a:pt x="0" y="0"/>
                </a:moveTo>
                <a:lnTo>
                  <a:pt x="2076443" y="0"/>
                </a:lnTo>
                <a:lnTo>
                  <a:pt x="2076443" y="1775359"/>
                </a:lnTo>
                <a:lnTo>
                  <a:pt x="0" y="177535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838347" y="5645733"/>
            <a:ext cx="1619250" cy="1619250"/>
          </a:xfrm>
          <a:custGeom>
            <a:avLst/>
            <a:gdLst/>
            <a:ahLst/>
            <a:cxnLst/>
            <a:rect r="r" b="b" t="t" l="l"/>
            <a:pathLst>
              <a:path h="1619250" w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37000"/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1" id="31"/>
          <p:cNvGrpSpPr/>
          <p:nvPr/>
        </p:nvGrpSpPr>
        <p:grpSpPr>
          <a:xfrm rot="-5338834">
            <a:off x="4849721" y="5657106"/>
            <a:ext cx="1290021" cy="129002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406" lIns="47406" bIns="47406" rIns="474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-10800000">
            <a:off x="11669633" y="5417002"/>
            <a:ext cx="2076444" cy="1775359"/>
          </a:xfrm>
          <a:custGeom>
            <a:avLst/>
            <a:gdLst/>
            <a:ahLst/>
            <a:cxnLst/>
            <a:rect r="r" b="b" t="t" l="l"/>
            <a:pathLst>
              <a:path h="1775359" w="2076444">
                <a:moveTo>
                  <a:pt x="0" y="0"/>
                </a:moveTo>
                <a:lnTo>
                  <a:pt x="2076443" y="0"/>
                </a:lnTo>
                <a:lnTo>
                  <a:pt x="2076443" y="1775359"/>
                </a:lnTo>
                <a:lnTo>
                  <a:pt x="0" y="17753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206991" y="5659671"/>
            <a:ext cx="1619250" cy="1619250"/>
          </a:xfrm>
          <a:custGeom>
            <a:avLst/>
            <a:gdLst/>
            <a:ahLst/>
            <a:cxnLst/>
            <a:rect r="r" b="b" t="t" l="l"/>
            <a:pathLst>
              <a:path h="1619250" w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7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6" id="36"/>
          <p:cNvGrpSpPr/>
          <p:nvPr/>
        </p:nvGrpSpPr>
        <p:grpSpPr>
          <a:xfrm rot="5400000">
            <a:off x="12206991" y="5659671"/>
            <a:ext cx="1290021" cy="1290021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406" lIns="47406" bIns="47406" rIns="474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-10800000">
            <a:off x="10819199" y="2987670"/>
            <a:ext cx="2076444" cy="1775359"/>
          </a:xfrm>
          <a:custGeom>
            <a:avLst/>
            <a:gdLst/>
            <a:ahLst/>
            <a:cxnLst/>
            <a:rect r="r" b="b" t="t" l="l"/>
            <a:pathLst>
              <a:path h="1775359" w="2076444">
                <a:moveTo>
                  <a:pt x="0" y="0"/>
                </a:moveTo>
                <a:lnTo>
                  <a:pt x="2076444" y="0"/>
                </a:lnTo>
                <a:lnTo>
                  <a:pt x="2076444" y="1775359"/>
                </a:lnTo>
                <a:lnTo>
                  <a:pt x="0" y="177535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1356557" y="3230339"/>
            <a:ext cx="1619250" cy="1619250"/>
          </a:xfrm>
          <a:custGeom>
            <a:avLst/>
            <a:gdLst/>
            <a:ahLst/>
            <a:cxnLst/>
            <a:rect r="r" b="b" t="t" l="l"/>
            <a:pathLst>
              <a:path h="1619250" w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7000"/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1" id="41"/>
          <p:cNvGrpSpPr/>
          <p:nvPr/>
        </p:nvGrpSpPr>
        <p:grpSpPr>
          <a:xfrm rot="5400000">
            <a:off x="11356557" y="3230339"/>
            <a:ext cx="1290021" cy="129002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406" lIns="47406" bIns="47406" rIns="474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-10800000">
            <a:off x="10819199" y="7879330"/>
            <a:ext cx="2076444" cy="1775359"/>
          </a:xfrm>
          <a:custGeom>
            <a:avLst/>
            <a:gdLst/>
            <a:ahLst/>
            <a:cxnLst/>
            <a:rect r="r" b="b" t="t" l="l"/>
            <a:pathLst>
              <a:path h="1775359" w="2076444">
                <a:moveTo>
                  <a:pt x="0" y="0"/>
                </a:moveTo>
                <a:lnTo>
                  <a:pt x="2076444" y="0"/>
                </a:lnTo>
                <a:lnTo>
                  <a:pt x="2076444" y="1775359"/>
                </a:lnTo>
                <a:lnTo>
                  <a:pt x="0" y="1775359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1356557" y="8121999"/>
            <a:ext cx="1619250" cy="1619250"/>
          </a:xfrm>
          <a:custGeom>
            <a:avLst/>
            <a:gdLst/>
            <a:ahLst/>
            <a:cxnLst/>
            <a:rect r="r" b="b" t="t" l="l"/>
            <a:pathLst>
              <a:path h="1619250" w="1619250">
                <a:moveTo>
                  <a:pt x="0" y="0"/>
                </a:moveTo>
                <a:lnTo>
                  <a:pt x="1619250" y="0"/>
                </a:lnTo>
                <a:lnTo>
                  <a:pt x="1619250" y="1619250"/>
                </a:lnTo>
                <a:lnTo>
                  <a:pt x="0" y="16192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37000"/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6" id="46"/>
          <p:cNvGrpSpPr/>
          <p:nvPr/>
        </p:nvGrpSpPr>
        <p:grpSpPr>
          <a:xfrm rot="5400000">
            <a:off x="11356557" y="8121999"/>
            <a:ext cx="1290021" cy="129002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406" lIns="47406" bIns="47406" rIns="4740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252718" y="3314419"/>
            <a:ext cx="2982628" cy="869361"/>
            <a:chOff x="0" y="0"/>
            <a:chExt cx="3976838" cy="1159149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0" y="120132"/>
              <a:ext cx="370089" cy="370089"/>
              <a:chOff x="0" y="0"/>
              <a:chExt cx="73104" cy="73104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3104" cy="73104"/>
              </a:xfrm>
              <a:custGeom>
                <a:avLst/>
                <a:gdLst/>
                <a:ahLst/>
                <a:cxnLst/>
                <a:rect r="r" b="b" t="t" l="l"/>
                <a:pathLst>
                  <a:path h="73104" w="73104">
                    <a:moveTo>
                      <a:pt x="0" y="0"/>
                    </a:moveTo>
                    <a:lnTo>
                      <a:pt x="73104" y="0"/>
                    </a:lnTo>
                    <a:lnTo>
                      <a:pt x="73104" y="73104"/>
                    </a:lnTo>
                    <a:lnTo>
                      <a:pt x="0" y="73104"/>
                    </a:lnTo>
                    <a:close/>
                  </a:path>
                </a:pathLst>
              </a:custGeom>
              <a:solidFill>
                <a:srgbClr val="F8A44A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73104" cy="111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3" id="53"/>
            <p:cNvSpPr txBox="true"/>
            <p:nvPr/>
          </p:nvSpPr>
          <p:spPr>
            <a:xfrm rot="0">
              <a:off x="585989" y="-9525"/>
              <a:ext cx="3390849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</a:t>
              </a: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angkah 1</a:t>
              </a:r>
            </a:p>
          </p:txBody>
        </p:sp>
        <p:sp>
          <p:nvSpPr>
            <p:cNvPr name="TextBox 54" id="54"/>
            <p:cNvSpPr txBox="true"/>
            <p:nvPr/>
          </p:nvSpPr>
          <p:spPr>
            <a:xfrm rot="0">
              <a:off x="585989" y="709357"/>
              <a:ext cx="339084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Siapkan Dataset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185357" y="3314419"/>
            <a:ext cx="2687155" cy="1113836"/>
            <a:chOff x="0" y="0"/>
            <a:chExt cx="3582873" cy="1485115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3212784" y="120132"/>
              <a:ext cx="370089" cy="370089"/>
              <a:chOff x="0" y="0"/>
              <a:chExt cx="73104" cy="73104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73104" cy="73104"/>
              </a:xfrm>
              <a:custGeom>
                <a:avLst/>
                <a:gdLst/>
                <a:ahLst/>
                <a:cxnLst/>
                <a:rect r="r" b="b" t="t" l="l"/>
                <a:pathLst>
                  <a:path h="73104" w="73104">
                    <a:moveTo>
                      <a:pt x="0" y="0"/>
                    </a:moveTo>
                    <a:lnTo>
                      <a:pt x="73104" y="0"/>
                    </a:lnTo>
                    <a:lnTo>
                      <a:pt x="73104" y="73104"/>
                    </a:lnTo>
                    <a:lnTo>
                      <a:pt x="0" y="73104"/>
                    </a:lnTo>
                    <a:close/>
                  </a:path>
                </a:pathLst>
              </a:custGeom>
              <a:solidFill>
                <a:srgbClr val="F25F66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73104" cy="111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0" y="-9525"/>
              <a:ext cx="299688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</a:t>
              </a: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angkah 6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0" y="785557"/>
              <a:ext cx="2996884" cy="6995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999"/>
                </a:lnSpc>
              </a:pP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Simpan dan L</a:t>
              </a: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acak Eksperimen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185357" y="8183629"/>
            <a:ext cx="2687155" cy="869361"/>
            <a:chOff x="0" y="0"/>
            <a:chExt cx="3582873" cy="1159149"/>
          </a:xfrm>
        </p:grpSpPr>
        <p:grpSp>
          <p:nvGrpSpPr>
            <p:cNvPr name="Group 62" id="62"/>
            <p:cNvGrpSpPr/>
            <p:nvPr/>
          </p:nvGrpSpPr>
          <p:grpSpPr>
            <a:xfrm rot="0">
              <a:off x="3212784" y="120132"/>
              <a:ext cx="370089" cy="370089"/>
              <a:chOff x="0" y="0"/>
              <a:chExt cx="73104" cy="73104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73104" cy="73104"/>
              </a:xfrm>
              <a:custGeom>
                <a:avLst/>
                <a:gdLst/>
                <a:ahLst/>
                <a:cxnLst/>
                <a:rect r="r" b="b" t="t" l="l"/>
                <a:pathLst>
                  <a:path h="73104" w="73104">
                    <a:moveTo>
                      <a:pt x="0" y="0"/>
                    </a:moveTo>
                    <a:lnTo>
                      <a:pt x="73104" y="0"/>
                    </a:lnTo>
                    <a:lnTo>
                      <a:pt x="73104" y="73104"/>
                    </a:lnTo>
                    <a:lnTo>
                      <a:pt x="0" y="73104"/>
                    </a:lnTo>
                    <a:close/>
                  </a:path>
                </a:pathLst>
              </a:custGeom>
              <a:solidFill>
                <a:srgbClr val="579AD1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73104" cy="111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5" id="65"/>
            <p:cNvSpPr txBox="true"/>
            <p:nvPr/>
          </p:nvSpPr>
          <p:spPr>
            <a:xfrm rot="0">
              <a:off x="0" y="-9525"/>
              <a:ext cx="2996884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Langkah 4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0" y="709357"/>
              <a:ext cx="2996884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Pantau</a:t>
              </a: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Training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035791" y="5719781"/>
            <a:ext cx="3080388" cy="869361"/>
            <a:chOff x="0" y="0"/>
            <a:chExt cx="4107184" cy="1159149"/>
          </a:xfrm>
        </p:grpSpPr>
        <p:grpSp>
          <p:nvGrpSpPr>
            <p:cNvPr name="Group 68" id="68"/>
            <p:cNvGrpSpPr/>
            <p:nvPr/>
          </p:nvGrpSpPr>
          <p:grpSpPr>
            <a:xfrm rot="0">
              <a:off x="3737096" y="120132"/>
              <a:ext cx="370089" cy="370089"/>
              <a:chOff x="0" y="0"/>
              <a:chExt cx="73104" cy="73104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73104" cy="73104"/>
              </a:xfrm>
              <a:custGeom>
                <a:avLst/>
                <a:gdLst/>
                <a:ahLst/>
                <a:cxnLst/>
                <a:rect r="r" b="b" t="t" l="l"/>
                <a:pathLst>
                  <a:path h="73104" w="73104">
                    <a:moveTo>
                      <a:pt x="0" y="0"/>
                    </a:moveTo>
                    <a:lnTo>
                      <a:pt x="73104" y="0"/>
                    </a:lnTo>
                    <a:lnTo>
                      <a:pt x="73104" y="73104"/>
                    </a:lnTo>
                    <a:lnTo>
                      <a:pt x="0" y="73104"/>
                    </a:lnTo>
                    <a:close/>
                  </a:path>
                </a:pathLst>
              </a:custGeom>
              <a:solidFill>
                <a:srgbClr val="8861A3"/>
              </a:solidFill>
            </p:spPr>
          </p:sp>
          <p:sp>
            <p:nvSpPr>
              <p:cNvPr name="TextBox 70" id="70"/>
              <p:cNvSpPr txBox="true"/>
              <p:nvPr/>
            </p:nvSpPr>
            <p:spPr>
              <a:xfrm>
                <a:off x="0" y="-38100"/>
                <a:ext cx="73104" cy="111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1" id="71"/>
            <p:cNvSpPr txBox="true"/>
            <p:nvPr/>
          </p:nvSpPr>
          <p:spPr>
            <a:xfrm rot="0">
              <a:off x="0" y="-9525"/>
              <a:ext cx="3521196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879"/>
                </a:lnSpc>
              </a:pP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</a:t>
              </a: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ngkah 5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0" y="709357"/>
              <a:ext cx="3521196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Evaluasi Before vs A</a:t>
              </a: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fter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252718" y="8220919"/>
            <a:ext cx="2982628" cy="869361"/>
            <a:chOff x="0" y="0"/>
            <a:chExt cx="3976838" cy="1159149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120132"/>
              <a:ext cx="370089" cy="370089"/>
              <a:chOff x="0" y="0"/>
              <a:chExt cx="73104" cy="73104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73104" cy="73104"/>
              </a:xfrm>
              <a:custGeom>
                <a:avLst/>
                <a:gdLst/>
                <a:ahLst/>
                <a:cxnLst/>
                <a:rect r="r" b="b" t="t" l="l"/>
                <a:pathLst>
                  <a:path h="73104" w="73104">
                    <a:moveTo>
                      <a:pt x="0" y="0"/>
                    </a:moveTo>
                    <a:lnTo>
                      <a:pt x="73104" y="0"/>
                    </a:lnTo>
                    <a:lnTo>
                      <a:pt x="73104" y="73104"/>
                    </a:lnTo>
                    <a:lnTo>
                      <a:pt x="0" y="73104"/>
                    </a:lnTo>
                    <a:close/>
                  </a:path>
                </a:pathLst>
              </a:custGeom>
              <a:solidFill>
                <a:srgbClr val="617FA3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0" y="-38100"/>
                <a:ext cx="73104" cy="111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7" id="77"/>
            <p:cNvSpPr txBox="true"/>
            <p:nvPr/>
          </p:nvSpPr>
          <p:spPr>
            <a:xfrm rot="0">
              <a:off x="585989" y="-9525"/>
              <a:ext cx="3390849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Langkah</a:t>
              </a: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3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585989" y="709357"/>
              <a:ext cx="3390849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</a:t>
              </a: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alankan Fine-Tuning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445896" y="5719781"/>
            <a:ext cx="2931953" cy="869361"/>
            <a:chOff x="0" y="0"/>
            <a:chExt cx="3909270" cy="1159149"/>
          </a:xfrm>
        </p:grpSpPr>
        <p:grpSp>
          <p:nvGrpSpPr>
            <p:cNvPr name="Group 80" id="80"/>
            <p:cNvGrpSpPr/>
            <p:nvPr/>
          </p:nvGrpSpPr>
          <p:grpSpPr>
            <a:xfrm rot="0">
              <a:off x="0" y="120132"/>
              <a:ext cx="370089" cy="370089"/>
              <a:chOff x="0" y="0"/>
              <a:chExt cx="73104" cy="73104"/>
            </a:xfrm>
          </p:grpSpPr>
          <p:sp>
            <p:nvSpPr>
              <p:cNvPr name="Freeform 81" id="81"/>
              <p:cNvSpPr/>
              <p:nvPr/>
            </p:nvSpPr>
            <p:spPr>
              <a:xfrm flipH="false" flipV="false" rot="0">
                <a:off x="0" y="0"/>
                <a:ext cx="73104" cy="73104"/>
              </a:xfrm>
              <a:custGeom>
                <a:avLst/>
                <a:gdLst/>
                <a:ahLst/>
                <a:cxnLst/>
                <a:rect r="r" b="b" t="t" l="l"/>
                <a:pathLst>
                  <a:path h="73104" w="73104">
                    <a:moveTo>
                      <a:pt x="0" y="0"/>
                    </a:moveTo>
                    <a:lnTo>
                      <a:pt x="73104" y="0"/>
                    </a:lnTo>
                    <a:lnTo>
                      <a:pt x="73104" y="73104"/>
                    </a:lnTo>
                    <a:lnTo>
                      <a:pt x="0" y="73104"/>
                    </a:lnTo>
                    <a:close/>
                  </a:path>
                </a:pathLst>
              </a:custGeom>
              <a:solidFill>
                <a:srgbClr val="A78A7A"/>
              </a:solidFill>
            </p:spPr>
          </p:sp>
          <p:sp>
            <p:nvSpPr>
              <p:cNvPr name="TextBox 82" id="82"/>
              <p:cNvSpPr txBox="true"/>
              <p:nvPr/>
            </p:nvSpPr>
            <p:spPr>
              <a:xfrm>
                <a:off x="0" y="-38100"/>
                <a:ext cx="73104" cy="1112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3" id="83"/>
            <p:cNvSpPr txBox="true"/>
            <p:nvPr/>
          </p:nvSpPr>
          <p:spPr>
            <a:xfrm rot="0">
              <a:off x="585989" y="-9525"/>
              <a:ext cx="3323282" cy="492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L</a:t>
              </a:r>
              <a:r>
                <a:rPr lang="en-US" b="true" sz="2400">
                  <a:solidFill>
                    <a:srgbClr val="000000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angkah 2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585989" y="709357"/>
              <a:ext cx="3323282" cy="449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</a:pP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Atur Ko</a:t>
              </a:r>
              <a:r>
                <a:rPr lang="en-US" sz="1999">
                  <a:solidFill>
                    <a:srgbClr val="000000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nfigurasi LoRA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183096" y="4976471"/>
            <a:ext cx="881061" cy="881061"/>
            <a:chOff x="0" y="0"/>
            <a:chExt cx="812800" cy="812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8A44A"/>
              </a:solidFill>
              <a:prstDash val="solid"/>
              <a:miter/>
            </a:ln>
          </p:spPr>
        </p:sp>
        <p:sp>
          <p:nvSpPr>
            <p:cNvPr name="TextBox 87" id="8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8183096" y="6870447"/>
            <a:ext cx="881061" cy="881061"/>
            <a:chOff x="0" y="0"/>
            <a:chExt cx="812800" cy="8128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617FA3"/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656840" y="5923459"/>
            <a:ext cx="881061" cy="881061"/>
            <a:chOff x="0" y="0"/>
            <a:chExt cx="812800" cy="812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A78A7A"/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714237" y="5923459"/>
            <a:ext cx="881061" cy="881061"/>
            <a:chOff x="0" y="0"/>
            <a:chExt cx="812800" cy="812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8861A3"/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273706" y="4976471"/>
            <a:ext cx="881061" cy="881061"/>
            <a:chOff x="0" y="0"/>
            <a:chExt cx="812800" cy="812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25F66"/>
              </a:solidFill>
              <a:prstDash val="solid"/>
              <a:miter/>
            </a:ln>
          </p:spPr>
        </p:sp>
        <p:sp>
          <p:nvSpPr>
            <p:cNvPr name="TextBox 99" id="9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273706" y="6870447"/>
            <a:ext cx="881061" cy="881061"/>
            <a:chOff x="0" y="0"/>
            <a:chExt cx="812800" cy="8128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579AD1"/>
              </a:solidFill>
              <a:prstDash val="solid"/>
              <a:miter/>
            </a:ln>
          </p:spPr>
        </p:sp>
        <p:sp>
          <p:nvSpPr>
            <p:cNvPr name="TextBox 102" id="10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5985398" y="3517130"/>
            <a:ext cx="691515" cy="762000"/>
          </a:xfrm>
          <a:custGeom>
            <a:avLst/>
            <a:gdLst/>
            <a:ahLst/>
            <a:cxnLst/>
            <a:rect r="r" b="b" t="t" l="l"/>
            <a:pathLst>
              <a:path h="762000" w="691515">
                <a:moveTo>
                  <a:pt x="0" y="0"/>
                </a:moveTo>
                <a:lnTo>
                  <a:pt x="691515" y="0"/>
                </a:lnTo>
                <a:lnTo>
                  <a:pt x="69151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4" id="104"/>
          <p:cNvSpPr/>
          <p:nvPr/>
        </p:nvSpPr>
        <p:spPr>
          <a:xfrm flipH="false" flipV="false" rot="0">
            <a:off x="5181488" y="5923682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5" id="105"/>
          <p:cNvSpPr/>
          <p:nvPr/>
        </p:nvSpPr>
        <p:spPr>
          <a:xfrm flipH="false" flipV="false" rot="0">
            <a:off x="6001191" y="8404481"/>
            <a:ext cx="691515" cy="762000"/>
          </a:xfrm>
          <a:custGeom>
            <a:avLst/>
            <a:gdLst/>
            <a:ahLst/>
            <a:cxnLst/>
            <a:rect r="r" b="b" t="t" l="l"/>
            <a:pathLst>
              <a:path h="762000" w="691515">
                <a:moveTo>
                  <a:pt x="0" y="0"/>
                </a:moveTo>
                <a:lnTo>
                  <a:pt x="691515" y="0"/>
                </a:lnTo>
                <a:lnTo>
                  <a:pt x="691515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6" id="106"/>
          <p:cNvSpPr/>
          <p:nvPr/>
        </p:nvSpPr>
        <p:spPr>
          <a:xfrm flipH="false" flipV="false" rot="0">
            <a:off x="11669633" y="3479509"/>
            <a:ext cx="763910" cy="762000"/>
          </a:xfrm>
          <a:custGeom>
            <a:avLst/>
            <a:gdLst/>
            <a:ahLst/>
            <a:cxnLst/>
            <a:rect r="r" b="b" t="t" l="l"/>
            <a:pathLst>
              <a:path h="762000" w="763910">
                <a:moveTo>
                  <a:pt x="0" y="0"/>
                </a:moveTo>
                <a:lnTo>
                  <a:pt x="763910" y="0"/>
                </a:lnTo>
                <a:lnTo>
                  <a:pt x="76391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7" id="107"/>
          <p:cNvSpPr/>
          <p:nvPr/>
        </p:nvSpPr>
        <p:spPr>
          <a:xfrm flipH="false" flipV="false" rot="0">
            <a:off x="11669633" y="8423531"/>
            <a:ext cx="666750" cy="666750"/>
          </a:xfrm>
          <a:custGeom>
            <a:avLst/>
            <a:gdLst/>
            <a:ahLst/>
            <a:cxnLst/>
            <a:rect r="r" b="b" t="t" l="l"/>
            <a:pathLst>
              <a:path h="666750" w="666750">
                <a:moveTo>
                  <a:pt x="0" y="0"/>
                </a:moveTo>
                <a:lnTo>
                  <a:pt x="666750" y="0"/>
                </a:lnTo>
                <a:lnTo>
                  <a:pt x="666750" y="666750"/>
                </a:lnTo>
                <a:lnTo>
                  <a:pt x="0" y="66675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8" id="108"/>
          <p:cNvSpPr/>
          <p:nvPr/>
        </p:nvSpPr>
        <p:spPr>
          <a:xfrm flipH="false" flipV="false" rot="0">
            <a:off x="12514643" y="5955530"/>
            <a:ext cx="762000" cy="762000"/>
          </a:xfrm>
          <a:custGeom>
            <a:avLst/>
            <a:gdLst/>
            <a:ahLst/>
            <a:cxnLst/>
            <a:rect r="r" b="b" t="t" l="l"/>
            <a:pathLst>
              <a:path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9" id="109"/>
          <p:cNvSpPr txBox="true"/>
          <p:nvPr/>
        </p:nvSpPr>
        <p:spPr>
          <a:xfrm rot="0">
            <a:off x="8270429" y="5217744"/>
            <a:ext cx="6873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01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8270429" y="7111720"/>
            <a:ext cx="6873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03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7744173" y="6164732"/>
            <a:ext cx="6873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02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9801570" y="6164732"/>
            <a:ext cx="6873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05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9361039" y="5217744"/>
            <a:ext cx="6873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06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9361039" y="7111720"/>
            <a:ext cx="68734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b="true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04</a:t>
            </a:r>
          </a:p>
        </p:txBody>
      </p:sp>
    </p:spTree>
  </p:cSld>
  <p:clrMapOvr>
    <a:masterClrMapping/>
  </p:clrMapOvr>
  <p:transition spd="med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23069"/>
            <a:ext cx="10473555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6"/>
              </a:lnSpc>
            </a:pPr>
            <a:r>
              <a:rPr lang="en-US" sz="72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281698" y="1160446"/>
            <a:ext cx="7967559" cy="38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</a:pPr>
            <a:r>
              <a:rPr lang="en-US" sz="24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Badan Siber dan Sandi Negara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718659" y="3652917"/>
            <a:ext cx="5999976" cy="734997"/>
          </a:xfrm>
          <a:custGeom>
            <a:avLst/>
            <a:gdLst/>
            <a:ahLst/>
            <a:cxnLst/>
            <a:rect r="r" b="b" t="t" l="l"/>
            <a:pathLst>
              <a:path h="734997" w="5999976">
                <a:moveTo>
                  <a:pt x="0" y="0"/>
                </a:moveTo>
                <a:lnTo>
                  <a:pt x="5999976" y="0"/>
                </a:lnTo>
                <a:lnTo>
                  <a:pt x="5999976" y="734997"/>
                </a:lnTo>
                <a:lnTo>
                  <a:pt x="0" y="734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723819"/>
            <a:ext cx="5607248" cy="49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32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Contact us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6344341"/>
            <a:ext cx="551070" cy="551070"/>
          </a:xfrm>
          <a:custGeom>
            <a:avLst/>
            <a:gdLst/>
            <a:ahLst/>
            <a:cxnLst/>
            <a:rect r="r" b="b" t="t" l="l"/>
            <a:pathLst>
              <a:path h="551070" w="551070">
                <a:moveTo>
                  <a:pt x="0" y="0"/>
                </a:moveTo>
                <a:lnTo>
                  <a:pt x="551070" y="0"/>
                </a:lnTo>
                <a:lnTo>
                  <a:pt x="551070" y="551070"/>
                </a:lnTo>
                <a:lnTo>
                  <a:pt x="0" y="551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34630" y="7019236"/>
            <a:ext cx="551070" cy="551070"/>
          </a:xfrm>
          <a:custGeom>
            <a:avLst/>
            <a:gdLst/>
            <a:ahLst/>
            <a:cxnLst/>
            <a:rect r="r" b="b" t="t" l="l"/>
            <a:pathLst>
              <a:path h="551070" w="551070">
                <a:moveTo>
                  <a:pt x="0" y="0"/>
                </a:moveTo>
                <a:lnTo>
                  <a:pt x="551070" y="0"/>
                </a:lnTo>
                <a:lnTo>
                  <a:pt x="551070" y="551070"/>
                </a:lnTo>
                <a:lnTo>
                  <a:pt x="0" y="5510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0525" y="7695666"/>
            <a:ext cx="539280" cy="539280"/>
          </a:xfrm>
          <a:custGeom>
            <a:avLst/>
            <a:gdLst/>
            <a:ahLst/>
            <a:cxnLst/>
            <a:rect r="r" b="b" t="t" l="l"/>
            <a:pathLst>
              <a:path h="539280" w="539280">
                <a:moveTo>
                  <a:pt x="0" y="0"/>
                </a:moveTo>
                <a:lnTo>
                  <a:pt x="539280" y="0"/>
                </a:lnTo>
                <a:lnTo>
                  <a:pt x="539280" y="539280"/>
                </a:lnTo>
                <a:lnTo>
                  <a:pt x="0" y="53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34630" y="3887153"/>
            <a:ext cx="11633887" cy="991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4"/>
              </a:lnSpc>
            </a:pPr>
            <a:r>
              <a:rPr lang="en-US" sz="32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AI is not just a technology </a:t>
            </a:r>
          </a:p>
          <a:p>
            <a:pPr algn="l">
              <a:lnSpc>
                <a:spcPts val="3904"/>
              </a:lnSpc>
            </a:pPr>
            <a:r>
              <a:rPr lang="en-US" sz="3200" b="true">
                <a:solidFill>
                  <a:srgbClr val="16224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— it’s a tool to unlock new possibilities.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782305" y="434253"/>
            <a:ext cx="2074516" cy="20745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CB6F9">
                <a:alpha val="71765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609927" y="1471511"/>
            <a:ext cx="5298747" cy="649096"/>
          </a:xfrm>
          <a:custGeom>
            <a:avLst/>
            <a:gdLst/>
            <a:ahLst/>
            <a:cxnLst/>
            <a:rect r="r" b="b" t="t" l="l"/>
            <a:pathLst>
              <a:path h="649096" w="5298747">
                <a:moveTo>
                  <a:pt x="0" y="0"/>
                </a:moveTo>
                <a:lnTo>
                  <a:pt x="5298746" y="0"/>
                </a:lnTo>
                <a:lnTo>
                  <a:pt x="5298746" y="649097"/>
                </a:lnTo>
                <a:lnTo>
                  <a:pt x="0" y="649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0">
            <a:off x="16207447" y="1288822"/>
            <a:ext cx="5298747" cy="649096"/>
          </a:xfrm>
          <a:custGeom>
            <a:avLst/>
            <a:gdLst/>
            <a:ahLst/>
            <a:cxnLst/>
            <a:rect r="r" b="b" t="t" l="l"/>
            <a:pathLst>
              <a:path h="649096" w="5298747">
                <a:moveTo>
                  <a:pt x="5298747" y="0"/>
                </a:moveTo>
                <a:lnTo>
                  <a:pt x="0" y="0"/>
                </a:lnTo>
                <a:lnTo>
                  <a:pt x="0" y="649096"/>
                </a:lnTo>
                <a:lnTo>
                  <a:pt x="5298747" y="649096"/>
                </a:lnTo>
                <a:lnTo>
                  <a:pt x="5298747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106742" y="5733344"/>
            <a:ext cx="2074516" cy="2074516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5CB6F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28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531884" y="7483311"/>
            <a:ext cx="5298747" cy="649096"/>
          </a:xfrm>
          <a:custGeom>
            <a:avLst/>
            <a:gdLst/>
            <a:ahLst/>
            <a:cxnLst/>
            <a:rect r="r" b="b" t="t" l="l"/>
            <a:pathLst>
              <a:path h="649096" w="5298747">
                <a:moveTo>
                  <a:pt x="0" y="0"/>
                </a:moveTo>
                <a:lnTo>
                  <a:pt x="5298747" y="0"/>
                </a:lnTo>
                <a:lnTo>
                  <a:pt x="5298747" y="649097"/>
                </a:lnTo>
                <a:lnTo>
                  <a:pt x="0" y="6490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96821" y="6466524"/>
            <a:ext cx="240227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400" u="sng">
                <a:solidFill>
                  <a:srgbClr val="0F1330"/>
                </a:solidFill>
                <a:latin typeface="Proxima Nova"/>
                <a:ea typeface="Proxima Nova"/>
                <a:cs typeface="Proxima Nova"/>
                <a:sym typeface="Proxima Nova"/>
                <a:hlinkClick r:id="rId12" tooltip="https://rantai.dev"/>
              </a:rPr>
              <a:t>https://rantai.dev/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96821" y="7095699"/>
            <a:ext cx="4300658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400" u="sng">
                <a:solidFill>
                  <a:srgbClr val="0F1330"/>
                </a:solidFill>
                <a:latin typeface="Proxima Nova"/>
                <a:ea typeface="Proxima Nova"/>
                <a:cs typeface="Proxima Nova"/>
                <a:sym typeface="Proxima Nova"/>
                <a:hlinkClick r:id="rId13" tooltip="mailto:contacts@rantai.dev"/>
              </a:rPr>
              <a:t>contacts@rantai.dev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96821" y="7753313"/>
            <a:ext cx="4300658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20"/>
              </a:lnSpc>
            </a:pPr>
            <a:r>
              <a:rPr lang="en-US" sz="2400">
                <a:solidFill>
                  <a:srgbClr val="0F1330"/>
                </a:solidFill>
                <a:latin typeface="Proxima Nova"/>
                <a:ea typeface="Proxima Nova"/>
                <a:cs typeface="Proxima Nova"/>
                <a:sym typeface="Proxima Nova"/>
              </a:rPr>
              <a:t>Depok, West Java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028700" y="839789"/>
            <a:ext cx="1044792" cy="1044792"/>
          </a:xfrm>
          <a:custGeom>
            <a:avLst/>
            <a:gdLst/>
            <a:ahLst/>
            <a:cxnLst/>
            <a:rect r="r" b="b" t="t" l="l"/>
            <a:pathLst>
              <a:path h="1044792" w="1044792">
                <a:moveTo>
                  <a:pt x="0" y="0"/>
                </a:moveTo>
                <a:lnTo>
                  <a:pt x="1044792" y="0"/>
                </a:lnTo>
                <a:lnTo>
                  <a:pt x="1044792" y="1044793"/>
                </a:lnTo>
                <a:lnTo>
                  <a:pt x="0" y="10447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true" flipV="false" rot="0">
            <a:off x="5974929" y="1028700"/>
            <a:ext cx="14406302" cy="8229600"/>
          </a:xfrm>
          <a:custGeom>
            <a:avLst/>
            <a:gdLst/>
            <a:ahLst/>
            <a:cxnLst/>
            <a:rect r="r" b="b" t="t" l="l"/>
            <a:pathLst>
              <a:path h="8229600" w="14406302">
                <a:moveTo>
                  <a:pt x="14406302" y="0"/>
                </a:moveTo>
                <a:lnTo>
                  <a:pt x="0" y="0"/>
                </a:lnTo>
                <a:lnTo>
                  <a:pt x="0" y="8229600"/>
                </a:lnTo>
                <a:lnTo>
                  <a:pt x="14406302" y="8229600"/>
                </a:lnTo>
                <a:lnTo>
                  <a:pt x="14406302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DAHSFxU8vHY</dc:identifier>
  <dcterms:modified xsi:type="dcterms:W3CDTF">2011-08-01T06:04:30Z</dcterms:modified>
  <cp:revision>1</cp:revision>
  <dc:title>Modul 11 - Teknik &amp; Trik Fine-Tuning LoRA</dc:title>
</cp:coreProperties>
</file>